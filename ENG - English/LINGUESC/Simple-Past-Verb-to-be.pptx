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5" Type="http://schemas.microsoft.com/office/2020/02/relationships/classificationlabels" Target="docMetadata/LabelInfo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61" r:id="rId6"/>
    <p:sldId id="262" r:id="rId7"/>
    <p:sldId id="265" r:id="rId8"/>
    <p:sldId id="274" r:id="rId9"/>
    <p:sldId id="275" r:id="rId10"/>
    <p:sldId id="276" r:id="rId11"/>
    <p:sldId id="264" r:id="rId12"/>
    <p:sldId id="263" r:id="rId13"/>
    <p:sldId id="271" r:id="rId14"/>
    <p:sldId id="277" r:id="rId15"/>
    <p:sldId id="278" r:id="rId16"/>
    <p:sldId id="279" r:id="rId17"/>
    <p:sldId id="273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384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hoeWFl+xJbZWhii2KkI0A9O7KX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4" autoAdjust="0"/>
    <p:restoredTop sz="94660"/>
  </p:normalViewPr>
  <p:slideViewPr>
    <p:cSldViewPr snapToGrid="0">
      <p:cViewPr varScale="1">
        <p:scale>
          <a:sx n="64" d="100"/>
          <a:sy n="64" d="100"/>
        </p:scale>
        <p:origin x="91" y="31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3" Type="http://schemas.openxmlformats.org/officeDocument/2006/relationships/customXml" Target="../customXml/item3.xml" /><Relationship Id="rId21" Type="http://customschemas.google.com/relationships/presentationmetadata" Target="metadata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5" Type="http://schemas.openxmlformats.org/officeDocument/2006/relationships/tableStyles" Target="tableStyles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theme" Target="theme/theme1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viewProps" Target="viewProps.xml" /><Relationship Id="rId10" Type="http://schemas.openxmlformats.org/officeDocument/2006/relationships/slide" Target="slides/slide6.xml" /><Relationship Id="rId19" Type="http://schemas.openxmlformats.org/officeDocument/2006/relationships/notesMaster" Target="notesMasters/notesMaster1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92336874-2CEF-8CF3-B046-55E67BA6F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8FDD8A60-0D8B-51E3-B24A-CD40CC794F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37AD1A15-1126-D94B-185D-FCEBAE70D0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3494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74BB589D-2EF4-545A-15DF-C86C7ECBD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26EFF415-F31A-9717-67A4-5ED78C1C69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6C98F3B9-71EB-F191-F066-69CBED4F21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3907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F3A211E7-2B1D-5999-09A2-6B083E524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3184D41-BAC7-8F2F-56DE-923DE54C36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3A90BED5-2D45-A455-8F28-6C8ED0A730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4340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51EB8CC2-5F1B-F054-41C3-BC7667DE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C2036020-75EA-40A3-3CC3-B0645796E4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9E3F3DB0-BDBC-5B01-E236-60068448FF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206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26CB5671-534A-E2BB-3472-CB4B8FDBB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C87AE07C-D99B-CD4B-5F2A-9AA1EC86D1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2BBE7D15-D489-53F7-60DE-E2915347DA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5128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A0AD4C9E-1A10-FA61-F0D0-426448038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88CF937F-3503-3186-AD2D-898CE81E13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8AD9858B-E42B-AF06-12E2-9B5C2A4D10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1856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662B89B3-DE59-379A-8F3A-4643109B8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88DE0185-0505-1213-10BC-0807653118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F7891BD4-123B-CA82-FCE1-1749BCCC33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7004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74CAAC12-0653-2A07-DD8F-19AE42F26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0AE2B799-9D5A-57EC-9D9F-377B1C13CA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218AE4CA-8FEB-C9C0-83F3-CBF15B49DB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119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1862347E-29DE-6533-D057-98B6F9572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BBFC058-2AF6-59E6-F985-C1FBBE3E48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DE9A376B-BDF2-3B0F-6B19-6B30A9DBD3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07758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D5EE78CE-5C4F-D16F-BBAD-1911B0A24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36A8EDC-4301-598E-42BF-8BB093874C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040EAB6C-00F9-847F-6D94-E5789E651F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31666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881E2548-69C9-7456-285D-FF11C455E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0D0DE67D-B28F-E6D4-22AC-BA5DA76EC5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CEA74A4B-5F3C-2CCF-5DF2-99CE89F525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38504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42725E4F-B1D5-AA6B-C10F-7A1CDD288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1039DC35-E255-7DD9-909B-D77D040549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010A0196-923C-861C-2164-C7C48404D7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50786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EE05D88-6EE0-7F28-0522-D26F70E43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61869E6-0A8D-EC94-DDCF-37CBBA2CB5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E4F43CA7-7AC1-44DD-4617-55ED7B9689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9312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Em Branc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jp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-806510" y="117973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 dirty="0"/>
              <a:t>LINGUESC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-836071" y="3636744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dirty="0"/>
              <a:t>BÁSICO II A – AULA 02</a:t>
            </a:r>
            <a:endParaRPr dirty="0"/>
          </a:p>
        </p:txBody>
      </p:sp>
      <p:sp>
        <p:nvSpPr>
          <p:cNvPr id="86" name="Google Shape;86;p1"/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1"/>
          <p:cNvCxnSpPr/>
          <p:nvPr/>
        </p:nvCxnSpPr>
        <p:spPr>
          <a:xfrm>
            <a:off x="1953929" y="3602038"/>
            <a:ext cx="356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"/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8492" y="1571912"/>
            <a:ext cx="2686425" cy="2753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4813"/>
            <a:ext cx="2811774" cy="488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1E7098F0-D4BE-EF29-E6DD-1E605D27C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83FD2A58-D068-4CA8-F440-B39F66E6C93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394995" y="2248517"/>
            <a:ext cx="5402009" cy="118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 dirty="0" err="1"/>
              <a:t>Past</a:t>
            </a:r>
            <a:r>
              <a:rPr lang="pt-BR" dirty="0"/>
              <a:t> </a:t>
            </a:r>
            <a:r>
              <a:rPr lang="pt-BR" dirty="0" err="1"/>
              <a:t>Simple</a:t>
            </a:r>
            <a:endParaRPr lang="pt-BR" dirty="0"/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E2C3749C-FAAB-A61C-2BED-F481E82C1EB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15893" y="3530065"/>
            <a:ext cx="4760211" cy="509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dirty="0" err="1"/>
              <a:t>Had</a:t>
            </a:r>
            <a:r>
              <a:rPr lang="pt-BR" dirty="0"/>
              <a:t> </a:t>
            </a:r>
            <a:r>
              <a:rPr lang="pt-BR" dirty="0" err="1"/>
              <a:t>you</a:t>
            </a:r>
            <a:r>
              <a:rPr lang="pt-BR" dirty="0"/>
              <a:t> </a:t>
            </a:r>
            <a:r>
              <a:rPr lang="pt-BR" dirty="0" err="1"/>
              <a:t>ever</a:t>
            </a:r>
            <a:r>
              <a:rPr lang="pt-BR" dirty="0"/>
              <a:t> </a:t>
            </a:r>
            <a:r>
              <a:rPr lang="pt-BR" dirty="0" err="1"/>
              <a:t>used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past</a:t>
            </a:r>
            <a:r>
              <a:rPr lang="pt-BR" dirty="0"/>
              <a:t> tense?</a:t>
            </a:r>
            <a:endParaRPr dirty="0"/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59C29E45-344D-F61A-88B1-9758E1EE1C88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1">
            <a:extLst>
              <a:ext uri="{FF2B5EF4-FFF2-40B4-BE49-F238E27FC236}">
                <a16:creationId xmlns:a16="http://schemas.microsoft.com/office/drawing/2014/main" id="{18EE7507-4B6B-C7C4-AE42-EF117708B616}"/>
              </a:ext>
            </a:extLst>
          </p:cNvPr>
          <p:cNvCxnSpPr>
            <a:cxnSpLocks/>
          </p:cNvCxnSpPr>
          <p:nvPr/>
        </p:nvCxnSpPr>
        <p:spPr>
          <a:xfrm>
            <a:off x="4097208" y="3429000"/>
            <a:ext cx="437889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447A7959-A226-7C18-DB03-A99532D05493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>
            <a:extLst>
              <a:ext uri="{FF2B5EF4-FFF2-40B4-BE49-F238E27FC236}">
                <a16:creationId xmlns:a16="http://schemas.microsoft.com/office/drawing/2014/main" id="{B9671B7A-90D6-5BED-5515-42FFB54F21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813"/>
            <a:ext cx="2811774" cy="4881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5471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3508CF4A-D138-3ADA-1EAD-FDC53CB10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97C75904-D66D-B374-7FD4-3ECC9FDEA2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31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 err="1"/>
              <a:t>Simple</a:t>
            </a:r>
            <a:r>
              <a:rPr lang="pt-BR" dirty="0"/>
              <a:t> </a:t>
            </a:r>
            <a:r>
              <a:rPr lang="pt-BR" dirty="0" err="1"/>
              <a:t>Past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DB2C621-8FBC-857A-A5FB-B6BF2AF99841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2CA79B2F-F14A-10D5-E09A-7E46880578AD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>
            <a:extLst>
              <a:ext uri="{FF2B5EF4-FFF2-40B4-BE49-F238E27FC236}">
                <a16:creationId xmlns:a16="http://schemas.microsoft.com/office/drawing/2014/main" id="{A4B06040-86F4-2A05-320B-0AD43E38EAFD}"/>
              </a:ext>
            </a:extLst>
          </p:cNvPr>
          <p:cNvCxnSpPr/>
          <p:nvPr/>
        </p:nvCxnSpPr>
        <p:spPr>
          <a:xfrm>
            <a:off x="270310" y="904773"/>
            <a:ext cx="432094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">
            <a:extLst>
              <a:ext uri="{FF2B5EF4-FFF2-40B4-BE49-F238E27FC236}">
                <a16:creationId xmlns:a16="http://schemas.microsoft.com/office/drawing/2014/main" id="{B5D2A785-DBF1-3A4D-8424-237027C224D1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7719" y="6443874"/>
            <a:ext cx="2414280" cy="4191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3;p3">
            <a:extLst>
              <a:ext uri="{FF2B5EF4-FFF2-40B4-BE49-F238E27FC236}">
                <a16:creationId xmlns:a16="http://schemas.microsoft.com/office/drawing/2014/main" id="{D84EEA25-8C0E-7507-C971-F9625F5F88E8}"/>
              </a:ext>
            </a:extLst>
          </p:cNvPr>
          <p:cNvSpPr txBox="1"/>
          <p:nvPr/>
        </p:nvSpPr>
        <p:spPr>
          <a:xfrm>
            <a:off x="664144" y="1568918"/>
            <a:ext cx="10121766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past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trata do passado simples, ou seja, devemos usá-lo quando estamos falando sobre uma ação que foi </a:t>
            </a:r>
            <a:r>
              <a:rPr lang="pt-BR" sz="20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iniciada e terminada no passado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 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u="none" strike="noStrike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0" i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Dentro do </a:t>
            </a:r>
            <a:r>
              <a:rPr lang="pt-BR" sz="2000" b="1" i="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Past</a:t>
            </a:r>
            <a:r>
              <a:rPr lang="pt-BR" sz="2000" b="1" i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Tense, </a:t>
            </a:r>
            <a:r>
              <a:rPr lang="pt-BR" sz="2000" b="0" i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também temos o </a:t>
            </a:r>
            <a:r>
              <a:rPr lang="pt-BR" sz="2000" b="1" i="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Past</a:t>
            </a:r>
            <a:r>
              <a:rPr lang="pt-BR" sz="2000" b="1" i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pt-BR" sz="2000" b="1" i="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Perfect</a:t>
            </a:r>
            <a:r>
              <a:rPr lang="pt-BR" sz="2000" b="1" i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e o </a:t>
            </a:r>
            <a:r>
              <a:rPr lang="pt-BR" sz="2000" b="1" i="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Past</a:t>
            </a:r>
            <a:r>
              <a:rPr lang="pt-BR" sz="2000" b="1" i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pt-BR" sz="2000" b="1" i="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Continuous</a:t>
            </a:r>
            <a:r>
              <a:rPr lang="pt-BR" sz="2000" b="1" i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.</a:t>
            </a:r>
            <a:endParaRPr lang="en-US" sz="20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61704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80EB12FE-305E-2B38-D359-D7BD98633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891661D9-92C7-5F0B-CF46-9A8971399E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31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 err="1"/>
              <a:t>How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use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4E4FC996-E62A-FE4E-126C-1603749E7D62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F516B302-0289-EA38-C7E5-812858D921AF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>
            <a:extLst>
              <a:ext uri="{FF2B5EF4-FFF2-40B4-BE49-F238E27FC236}">
                <a16:creationId xmlns:a16="http://schemas.microsoft.com/office/drawing/2014/main" id="{20BC1301-59C4-A3CA-911F-21777A9FC3BF}"/>
              </a:ext>
            </a:extLst>
          </p:cNvPr>
          <p:cNvCxnSpPr/>
          <p:nvPr/>
        </p:nvCxnSpPr>
        <p:spPr>
          <a:xfrm>
            <a:off x="270310" y="904773"/>
            <a:ext cx="432094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">
            <a:extLst>
              <a:ext uri="{FF2B5EF4-FFF2-40B4-BE49-F238E27FC236}">
                <a16:creationId xmlns:a16="http://schemas.microsoft.com/office/drawing/2014/main" id="{3736E10E-B041-64FE-5479-ABCC028901C0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7719" y="6443874"/>
            <a:ext cx="2414280" cy="4191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3;p3">
            <a:extLst>
              <a:ext uri="{FF2B5EF4-FFF2-40B4-BE49-F238E27FC236}">
                <a16:creationId xmlns:a16="http://schemas.microsoft.com/office/drawing/2014/main" id="{1E20FEEC-E132-779C-AEFC-98451BD7D1C4}"/>
              </a:ext>
            </a:extLst>
          </p:cNvPr>
          <p:cNvSpPr txBox="1"/>
          <p:nvPr/>
        </p:nvSpPr>
        <p:spPr>
          <a:xfrm>
            <a:off x="664144" y="1568918"/>
            <a:ext cx="7760528" cy="2144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Para passer um verbo para o passado,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regularmente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só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adicionamos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–ed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ao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seu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fim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: 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285750" lvl="2" indent="-285750" fontAlgn="base">
              <a:buFont typeface="Arial" panose="020B0604020202020204" pitchFamily="34" charset="0"/>
              <a:buChar char="•"/>
            </a:pPr>
            <a:r>
              <a:rPr lang="pt-BR" sz="20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</a:t>
            </a:r>
            <a:r>
              <a:rPr lang="pt-BR" sz="2000" b="1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(Chamar / ligar)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pt-BR" sz="20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</a:t>
            </a:r>
            <a:r>
              <a:rPr lang="pt-BR" sz="2000" b="1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(Trabalhar)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–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</a:t>
            </a:r>
            <a:r>
              <a:rPr lang="pt-BR" sz="2000" b="1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(Limpar)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marL="285750" indent="-285750" algn="l" rtl="0" fontAlgn="base">
              <a:lnSpc>
                <a:spcPts val="1569"/>
              </a:lnSpc>
              <a:buFont typeface="Arial" panose="020B0604020202020204" pitchFamily="34" charset="0"/>
              <a:buChar char="•"/>
            </a:pPr>
            <a:endParaRPr lang="en-US"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297452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7F4654D1-F5EC-AB6D-B0A7-C2EFED5DD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F01B6CB3-53A7-C1B5-F828-55C232162F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31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 err="1"/>
              <a:t>How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use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93A2040-9689-42FD-BF60-8E582A004C7E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38B9FCA4-E9F3-B55F-6722-E3E895617C31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>
            <a:extLst>
              <a:ext uri="{FF2B5EF4-FFF2-40B4-BE49-F238E27FC236}">
                <a16:creationId xmlns:a16="http://schemas.microsoft.com/office/drawing/2014/main" id="{B1379D35-7D2B-E654-056B-BFE59F2AFEAC}"/>
              </a:ext>
            </a:extLst>
          </p:cNvPr>
          <p:cNvCxnSpPr/>
          <p:nvPr/>
        </p:nvCxnSpPr>
        <p:spPr>
          <a:xfrm>
            <a:off x="270310" y="904773"/>
            <a:ext cx="432094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">
            <a:extLst>
              <a:ext uri="{FF2B5EF4-FFF2-40B4-BE49-F238E27FC236}">
                <a16:creationId xmlns:a16="http://schemas.microsoft.com/office/drawing/2014/main" id="{440F408D-2EC5-D8E2-40C5-E8BF4B059D2B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7719" y="6443874"/>
            <a:ext cx="2414280" cy="4191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3;p3">
            <a:extLst>
              <a:ext uri="{FF2B5EF4-FFF2-40B4-BE49-F238E27FC236}">
                <a16:creationId xmlns:a16="http://schemas.microsoft.com/office/drawing/2014/main" id="{BF18B7F6-0978-30B4-6A61-CC492BA297ED}"/>
              </a:ext>
            </a:extLst>
          </p:cNvPr>
          <p:cNvSpPr txBox="1"/>
          <p:nvPr/>
        </p:nvSpPr>
        <p:spPr>
          <a:xfrm>
            <a:off x="664144" y="1568918"/>
            <a:ext cx="7760528" cy="3652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Regras: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b="0" i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Verbos terminados com “e” 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– Só adicionamos -d: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Arriv</a:t>
            </a:r>
            <a:r>
              <a:rPr lang="pt-BR" sz="2000" b="1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e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–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Arri</a:t>
            </a:r>
            <a:r>
              <a:rPr lang="pt-B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v</a:t>
            </a:r>
            <a:r>
              <a:rPr lang="pt-BR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ed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(Chegar)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b="0" i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Verbos terminados com consoante + y 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– Trocamos o “y” por “i” + -</a:t>
            </a:r>
            <a:r>
              <a:rPr lang="pt-B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ed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: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Stud</a:t>
            </a:r>
            <a:r>
              <a:rPr lang="pt-BR" sz="2000" b="1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y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–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Stud</a:t>
            </a:r>
            <a:r>
              <a:rPr lang="pt-BR" sz="2000" b="1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ied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(Estudar)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Verbos Curtos com consoante-vogal-consoante (CVC)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– Dobramos a última consoante + -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ed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: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Sto</a:t>
            </a:r>
            <a:r>
              <a:rPr lang="pt-BR" sz="20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p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– </a:t>
            </a:r>
            <a:r>
              <a:rPr lang="pt-BR" sz="20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Stop</a:t>
            </a:r>
            <a:r>
              <a:rPr lang="pt-BR" sz="2000" b="1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ped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(Parar)</a:t>
            </a:r>
            <a:endParaRPr lang="en-US" sz="1800" b="0" i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285750" indent="-285750" algn="l" rtl="0" fontAlgn="base">
              <a:lnSpc>
                <a:spcPts val="1569"/>
              </a:lnSpc>
              <a:buFont typeface="Arial" panose="020B0604020202020204" pitchFamily="34" charset="0"/>
              <a:buChar char="•"/>
            </a:pPr>
            <a:endParaRPr lang="en-US"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1798526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61BFAB95-7D6B-FD1B-54BD-69A2D07F5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0BB113FA-D7EA-DDE9-298E-88136A7E2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31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 err="1"/>
              <a:t>How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use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6AC2985-69C5-4B92-C88F-E6FA05DADD77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A969A932-F6F5-D9D4-FEC2-A9C63FEEFF98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>
            <a:extLst>
              <a:ext uri="{FF2B5EF4-FFF2-40B4-BE49-F238E27FC236}">
                <a16:creationId xmlns:a16="http://schemas.microsoft.com/office/drawing/2014/main" id="{C6F46D0C-2628-0170-E902-7994F4713329}"/>
              </a:ext>
            </a:extLst>
          </p:cNvPr>
          <p:cNvCxnSpPr/>
          <p:nvPr/>
        </p:nvCxnSpPr>
        <p:spPr>
          <a:xfrm>
            <a:off x="270310" y="904773"/>
            <a:ext cx="432094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">
            <a:extLst>
              <a:ext uri="{FF2B5EF4-FFF2-40B4-BE49-F238E27FC236}">
                <a16:creationId xmlns:a16="http://schemas.microsoft.com/office/drawing/2014/main" id="{799FE1C8-9ED3-012B-E01B-68AB6917EF58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7719" y="6443874"/>
            <a:ext cx="2414280" cy="4191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3;p3">
            <a:extLst>
              <a:ext uri="{FF2B5EF4-FFF2-40B4-BE49-F238E27FC236}">
                <a16:creationId xmlns:a16="http://schemas.microsoft.com/office/drawing/2014/main" id="{541E7B64-018B-B23B-58E3-96726ABDA0F4}"/>
              </a:ext>
            </a:extLst>
          </p:cNvPr>
          <p:cNvSpPr txBox="1"/>
          <p:nvPr/>
        </p:nvSpPr>
        <p:spPr>
          <a:xfrm>
            <a:off x="664144" y="1568918"/>
            <a:ext cx="7760528" cy="3067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Porém, também temos diversos </a:t>
            </a: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verbos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irregulares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que não seguem regras ao passarem para o passado: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b="0" i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Do – </a:t>
            </a:r>
            <a:r>
              <a:rPr lang="pt-BR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Did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(Fazer)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Have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– </a:t>
            </a:r>
            <a:r>
              <a:rPr lang="pt-BR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Had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(Ter)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Go – </a:t>
            </a:r>
            <a:r>
              <a:rPr lang="pt-BR" sz="2000" b="1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Went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(Ir)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Speak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– </a:t>
            </a:r>
            <a:r>
              <a:rPr lang="pt-BR" sz="2000" b="1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Spoke</a:t>
            </a:r>
            <a:r>
              <a:rPr lang="pt-B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(Falar)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b="0" i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Entre muitos outros...</a:t>
            </a:r>
            <a:endParaRPr lang="en-US" sz="1800" b="0" i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285750" indent="-285750" algn="l" rtl="0" fontAlgn="base">
              <a:lnSpc>
                <a:spcPts val="1569"/>
              </a:lnSpc>
              <a:buFont typeface="Arial" panose="020B0604020202020204" pitchFamily="34" charset="0"/>
              <a:buChar char="•"/>
            </a:pPr>
            <a:endParaRPr lang="en-US"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2554476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367549FF-14C4-14E6-40D5-1E0CA4E88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18184614-B11F-4E2F-5ADA-7A683AAD14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31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be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4304758-EBAD-F713-8B71-C9224E295205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AEA1A105-8763-01AC-B5CA-29976F792768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>
            <a:extLst>
              <a:ext uri="{FF2B5EF4-FFF2-40B4-BE49-F238E27FC236}">
                <a16:creationId xmlns:a16="http://schemas.microsoft.com/office/drawing/2014/main" id="{882EBB40-0A67-8612-D8FD-6B4A2E859E03}"/>
              </a:ext>
            </a:extLst>
          </p:cNvPr>
          <p:cNvCxnSpPr/>
          <p:nvPr/>
        </p:nvCxnSpPr>
        <p:spPr>
          <a:xfrm>
            <a:off x="270310" y="904773"/>
            <a:ext cx="432094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">
            <a:extLst>
              <a:ext uri="{FF2B5EF4-FFF2-40B4-BE49-F238E27FC236}">
                <a16:creationId xmlns:a16="http://schemas.microsoft.com/office/drawing/2014/main" id="{9EA4E188-55AD-70CE-E27B-657B5688DAF5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7719" y="6443874"/>
            <a:ext cx="2414280" cy="4191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3;p3">
            <a:extLst>
              <a:ext uri="{FF2B5EF4-FFF2-40B4-BE49-F238E27FC236}">
                <a16:creationId xmlns:a16="http://schemas.microsoft.com/office/drawing/2014/main" id="{197BC108-D530-4A1F-3E30-8E2A949B7EF5}"/>
              </a:ext>
            </a:extLst>
          </p:cNvPr>
          <p:cNvSpPr txBox="1"/>
          <p:nvPr/>
        </p:nvSpPr>
        <p:spPr>
          <a:xfrm>
            <a:off x="664144" y="1568918"/>
            <a:ext cx="7760528" cy="3067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O verbo </a:t>
            </a:r>
            <a:r>
              <a:rPr lang="pt-B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To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Be (Ser/Estar) é um </a:t>
            </a: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verbo auxiliar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e muitas das vezes é o </a:t>
            </a: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verbo principal 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das frases.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b="0" i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Como verbo principal, ele descreve uma identidade ou estado.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b="0" i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Já na sua forma auxiliar, ele acompanha o verbo sujeito como: Am, </a:t>
            </a:r>
            <a:r>
              <a:rPr lang="pt-B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Is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ou Are.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b="0" i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No passado, existem duas formas para ele: </a:t>
            </a:r>
            <a:r>
              <a:rPr lang="pt-BR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Was</a:t>
            </a: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e </a:t>
            </a:r>
            <a:r>
              <a:rPr lang="pt-BR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Were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.</a:t>
            </a:r>
            <a:endParaRPr lang="en-US" sz="1800" b="0" i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285750" indent="-285750" algn="l" rtl="0" fontAlgn="base">
              <a:lnSpc>
                <a:spcPts val="1569"/>
              </a:lnSpc>
              <a:buFont typeface="Arial" panose="020B0604020202020204" pitchFamily="34" charset="0"/>
              <a:buChar char="•"/>
            </a:pPr>
            <a:endParaRPr lang="en-US"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3335325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18799889-0013-A2E8-707C-2CF999803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BA87F08D-46A3-6B06-CE66-816D090728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31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/>
              <a:t>PRESENT SIMPLE STRUCTURE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FD39BDB-44C3-DF11-6FF2-42F6FB11B822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DC2452A-CE14-310D-F343-219171CE63E1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>
            <a:extLst>
              <a:ext uri="{FF2B5EF4-FFF2-40B4-BE49-F238E27FC236}">
                <a16:creationId xmlns:a16="http://schemas.microsoft.com/office/drawing/2014/main" id="{037A48D9-64C3-4077-A4DA-C77F395953D1}"/>
              </a:ext>
            </a:extLst>
          </p:cNvPr>
          <p:cNvCxnSpPr>
            <a:cxnSpLocks/>
          </p:cNvCxnSpPr>
          <p:nvPr/>
        </p:nvCxnSpPr>
        <p:spPr>
          <a:xfrm>
            <a:off x="270310" y="904773"/>
            <a:ext cx="683762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">
            <a:extLst>
              <a:ext uri="{FF2B5EF4-FFF2-40B4-BE49-F238E27FC236}">
                <a16:creationId xmlns:a16="http://schemas.microsoft.com/office/drawing/2014/main" id="{556A046C-91F4-EEBA-22A3-0AAEEE0FF612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7719" y="6443874"/>
            <a:ext cx="2414280" cy="41917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33FA741-0166-A9CB-8252-9FCCEDC3BF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180176"/>
              </p:ext>
            </p:extLst>
          </p:nvPr>
        </p:nvGraphicFramePr>
        <p:xfrm>
          <a:off x="270310" y="1297751"/>
          <a:ext cx="8199320" cy="4907280"/>
        </p:xfrm>
        <a:graphic>
          <a:graphicData uri="http://schemas.openxmlformats.org/drawingml/2006/table">
            <a:tbl>
              <a:tblPr/>
              <a:tblGrid>
                <a:gridCol w="1921510">
                  <a:extLst>
                    <a:ext uri="{9D8B030D-6E8A-4147-A177-3AD203B41FA5}">
                      <a16:colId xmlns:a16="http://schemas.microsoft.com/office/drawing/2014/main" val="741386602"/>
                    </a:ext>
                  </a:extLst>
                </a:gridCol>
                <a:gridCol w="2263697">
                  <a:extLst>
                    <a:ext uri="{9D8B030D-6E8A-4147-A177-3AD203B41FA5}">
                      <a16:colId xmlns:a16="http://schemas.microsoft.com/office/drawing/2014/main" val="2856016187"/>
                    </a:ext>
                  </a:extLst>
                </a:gridCol>
                <a:gridCol w="4014113">
                  <a:extLst>
                    <a:ext uri="{9D8B030D-6E8A-4147-A177-3AD203B41FA5}">
                      <a16:colId xmlns:a16="http://schemas.microsoft.com/office/drawing/2014/main" val="1089724274"/>
                    </a:ext>
                  </a:extLst>
                </a:gridCol>
              </a:tblGrid>
              <a:tr h="362386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PRONOME</a:t>
                      </a:r>
                      <a:r>
                        <a:rPr lang="en-US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VERBO TO BE</a:t>
                      </a:r>
                      <a:r>
                        <a:rPr lang="en-US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EXEMPLOS</a:t>
                      </a:r>
                      <a:r>
                        <a:rPr lang="en-US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30638"/>
                  </a:ext>
                </a:extLst>
              </a:tr>
              <a:tr h="622686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 </a:t>
                      </a:r>
                      <a:endParaRPr lang="en-US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was </a:t>
                      </a:r>
                      <a:endParaRPr lang="en-US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t-BR" sz="2000" b="0" i="1" dirty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 </a:t>
                      </a:r>
                      <a:r>
                        <a:rPr lang="pt-BR" sz="2000" b="0" i="1" dirty="0" err="1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was</a:t>
                      </a:r>
                      <a:r>
                        <a:rPr lang="pt-BR" sz="2000" b="0" i="1" dirty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pt-BR" sz="2000" b="0" i="1" dirty="0" err="1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at</a:t>
                      </a:r>
                      <a:r>
                        <a:rPr lang="pt-BR" sz="2000" b="0" i="1" dirty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home </a:t>
                      </a:r>
                      <a:r>
                        <a:rPr lang="pt-BR" sz="2000" b="0" i="1" dirty="0" err="1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last</a:t>
                      </a:r>
                      <a:r>
                        <a:rPr lang="pt-BR" sz="2000" b="0" i="1" dirty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pt-BR" sz="2000" b="0" i="1" dirty="0" err="1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night</a:t>
                      </a:r>
                      <a:r>
                        <a:rPr lang="pt-BR" sz="2000" b="0" i="1" dirty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  <a:r>
                        <a:rPr lang="pt-BR" sz="2000" b="0" i="0" dirty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pt-BR" sz="2000" b="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t-BR" sz="2000" b="0" i="0" dirty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(Eu estive em casa ontem à noite) </a:t>
                      </a:r>
                      <a:endParaRPr lang="pt-BR" sz="2000" b="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496356"/>
                  </a:ext>
                </a:extLst>
              </a:tr>
              <a:tr h="622686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You </a:t>
                      </a:r>
                      <a:endParaRPr lang="en-US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were </a:t>
                      </a:r>
                      <a:endParaRPr lang="en-US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t-BR" sz="2000" b="0" i="1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You were a big baby.</a:t>
                      </a:r>
                      <a:r>
                        <a:rPr lang="pt-BR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pt-BR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t-BR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(Você foi um bebê grande) </a:t>
                      </a:r>
                      <a:endParaRPr lang="pt-BR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734841"/>
                  </a:ext>
                </a:extLst>
              </a:tr>
              <a:tr h="882985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 / she / it </a:t>
                      </a:r>
                      <a:endParaRPr lang="en-US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was </a:t>
                      </a:r>
                      <a:endParaRPr lang="en-US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t-BR" sz="2000" b="0" i="1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She was in school last weekend.</a:t>
                      </a:r>
                      <a:r>
                        <a:rPr lang="pt-BR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pt-BR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t-BR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(Ela esteve na escola no final de semana passado) </a:t>
                      </a:r>
                      <a:endParaRPr lang="pt-BR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221066"/>
                  </a:ext>
                </a:extLst>
              </a:tr>
              <a:tr h="622686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 </a:t>
                      </a:r>
                      <a:endParaRPr lang="en-US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were </a:t>
                      </a:r>
                      <a:endParaRPr lang="en-US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1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 were happy that day.</a:t>
                      </a:r>
                      <a:r>
                        <a:rPr lang="en-US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(Nós fomos felizes naquele dia) </a:t>
                      </a:r>
                      <a:endParaRPr lang="en-US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382784"/>
                  </a:ext>
                </a:extLst>
              </a:tr>
              <a:tr h="622686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You </a:t>
                      </a:r>
                      <a:endParaRPr lang="en-US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were </a:t>
                      </a:r>
                      <a:endParaRPr lang="en-US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t-BR" sz="2000" b="0" i="1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You were best friends.</a:t>
                      </a:r>
                      <a:r>
                        <a:rPr lang="pt-BR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pt-BR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t-BR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(Você foram melhores amigos) </a:t>
                      </a:r>
                      <a:endParaRPr lang="pt-BR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369075"/>
                  </a:ext>
                </a:extLst>
              </a:tr>
              <a:tr h="622686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They </a:t>
                      </a:r>
                      <a:endParaRPr lang="en-US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were </a:t>
                      </a:r>
                      <a:endParaRPr lang="en-US" sz="2000" b="0" i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1" dirty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They were there.</a:t>
                      </a:r>
                      <a:r>
                        <a:rPr lang="en-US" sz="2000" b="0" i="0" dirty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2000" b="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Eles </a:t>
                      </a:r>
                      <a:r>
                        <a:rPr lang="en-US" sz="2000" b="0" i="0" dirty="0" err="1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estiveram</a:t>
                      </a:r>
                      <a:r>
                        <a:rPr lang="en-US" sz="2000" b="0" i="0" dirty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000" b="0" i="0" dirty="0" err="1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lá</a:t>
                      </a:r>
                      <a:r>
                        <a:rPr lang="en-US" sz="2000" b="0" i="0" dirty="0">
                          <a:solidFill>
                            <a:srgbClr val="22282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 </a:t>
                      </a:r>
                      <a:endParaRPr lang="en-US" sz="2000" b="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789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58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EAE5B3F7-F063-2033-D823-E83812193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375CBE63-B5C8-FB56-C8EA-1CD6B4B12C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31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 err="1"/>
              <a:t>To</a:t>
            </a:r>
            <a:r>
              <a:rPr lang="pt-BR" dirty="0"/>
              <a:t> Do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42960215-B43E-7FF8-E594-9DF4682F0541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BC5C1716-A79D-10CE-B89A-A08FD930C030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>
            <a:extLst>
              <a:ext uri="{FF2B5EF4-FFF2-40B4-BE49-F238E27FC236}">
                <a16:creationId xmlns:a16="http://schemas.microsoft.com/office/drawing/2014/main" id="{9E776594-EAE8-B2CA-4023-605F7D07A776}"/>
              </a:ext>
            </a:extLst>
          </p:cNvPr>
          <p:cNvCxnSpPr/>
          <p:nvPr/>
        </p:nvCxnSpPr>
        <p:spPr>
          <a:xfrm>
            <a:off x="270310" y="904773"/>
            <a:ext cx="432094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">
            <a:extLst>
              <a:ext uri="{FF2B5EF4-FFF2-40B4-BE49-F238E27FC236}">
                <a16:creationId xmlns:a16="http://schemas.microsoft.com/office/drawing/2014/main" id="{1BAA983A-BE5F-0214-823E-172A05341B4A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7719" y="6443874"/>
            <a:ext cx="2414280" cy="4191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3;p3">
            <a:extLst>
              <a:ext uri="{FF2B5EF4-FFF2-40B4-BE49-F238E27FC236}">
                <a16:creationId xmlns:a16="http://schemas.microsoft.com/office/drawing/2014/main" id="{DC6DBA7F-F716-B4C0-7F30-98D79D540BB9}"/>
              </a:ext>
            </a:extLst>
          </p:cNvPr>
          <p:cNvSpPr txBox="1"/>
          <p:nvPr/>
        </p:nvSpPr>
        <p:spPr>
          <a:xfrm>
            <a:off x="664144" y="1568918"/>
            <a:ext cx="7760528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Assim </a:t>
            </a:r>
            <a:r>
              <a:rPr lang="en-US" sz="200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como</a:t>
            </a:r>
            <a:r>
              <a:rPr lang="en-US" sz="20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o To be, o To do </a:t>
            </a:r>
            <a:r>
              <a:rPr lang="en-US" sz="200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também</a:t>
            </a:r>
            <a:r>
              <a:rPr lang="en-US" sz="20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é um verbo auxiliar, mas que </a:t>
            </a:r>
            <a:r>
              <a:rPr lang="en-US" sz="200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pode</a:t>
            </a:r>
            <a:r>
              <a:rPr lang="en-US" sz="20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se </a:t>
            </a:r>
            <a:r>
              <a:rPr lang="en-US" sz="200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tornar</a:t>
            </a:r>
            <a:r>
              <a:rPr lang="en-US" sz="20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principal </a:t>
            </a:r>
            <a:r>
              <a:rPr lang="en-US" sz="200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quando</a:t>
            </a:r>
            <a:r>
              <a:rPr lang="en-US" sz="20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o To be </a:t>
            </a:r>
            <a:r>
              <a:rPr lang="en-US" sz="200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não</a:t>
            </a:r>
            <a:r>
              <a:rPr lang="en-US" sz="20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aparece</a:t>
            </a:r>
            <a:r>
              <a:rPr lang="en-US" sz="20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na</a:t>
            </a:r>
            <a:r>
              <a:rPr lang="en-US" sz="20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frase</a:t>
            </a:r>
            <a:r>
              <a:rPr lang="en-US" sz="20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Ou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seja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: no passado,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quando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não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observamos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o Was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ou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Were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usamos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o To do, no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caso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, o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Did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did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the homework (Eu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fiz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lição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de casa)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They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did watch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the movie ( Eles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assistiram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filme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)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Note que: Ao usar o Did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em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uma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frase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não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precisamos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mais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passer outro verbo para o passado.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Isso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acontece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pois o Did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já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explicita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que 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frase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está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no passado, se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tornando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redundante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repertir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o tempo verbal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novamente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0924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9A64F7BE-1791-A9DA-1671-2C721A29E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D84167EC-432A-D4FC-CCC3-0756F7F045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31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 err="1"/>
              <a:t>Sentence</a:t>
            </a:r>
            <a:r>
              <a:rPr lang="pt-BR" dirty="0"/>
              <a:t> </a:t>
            </a:r>
            <a:r>
              <a:rPr lang="pt-BR" dirty="0" err="1"/>
              <a:t>Formation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847F456D-6EEA-37FA-87D2-BBBED9AFCD46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0A4E9514-0B4B-CB19-6A56-FD9FF4C17C89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>
            <a:extLst>
              <a:ext uri="{FF2B5EF4-FFF2-40B4-BE49-F238E27FC236}">
                <a16:creationId xmlns:a16="http://schemas.microsoft.com/office/drawing/2014/main" id="{AB3E8DBD-D2FD-69E1-1168-9499BA6B1FEB}"/>
              </a:ext>
            </a:extLst>
          </p:cNvPr>
          <p:cNvCxnSpPr/>
          <p:nvPr/>
        </p:nvCxnSpPr>
        <p:spPr>
          <a:xfrm>
            <a:off x="270310" y="904773"/>
            <a:ext cx="432094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">
            <a:extLst>
              <a:ext uri="{FF2B5EF4-FFF2-40B4-BE49-F238E27FC236}">
                <a16:creationId xmlns:a16="http://schemas.microsoft.com/office/drawing/2014/main" id="{A46C4C5C-AB47-6B6C-3C48-DCFAC968A486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7719" y="6443874"/>
            <a:ext cx="2414280" cy="41917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3;p3">
            <a:extLst>
              <a:ext uri="{FF2B5EF4-FFF2-40B4-BE49-F238E27FC236}">
                <a16:creationId xmlns:a16="http://schemas.microsoft.com/office/drawing/2014/main" id="{2215F342-64EA-7589-DD2F-51DFAC476B0A}"/>
              </a:ext>
            </a:extLst>
          </p:cNvPr>
          <p:cNvSpPr txBox="1"/>
          <p:nvPr/>
        </p:nvSpPr>
        <p:spPr>
          <a:xfrm>
            <a:off x="664144" y="1568918"/>
            <a:ext cx="7760528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Para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frases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afirmativas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estrutura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se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mantém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mesma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do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presente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simples,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só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mudamos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o verbo principal para o passado: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She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saw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the movie (Ela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viu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o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filme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)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went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home early (Nos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fomos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cedo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para casa)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He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did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the task (Ele fez 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tarefa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)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did go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to school that day (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Nós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fomos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para 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escola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naquele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dia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17709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8ECAEE5F-9A67-26D9-F731-D6773C68B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6E72CA54-67DE-1C86-34E8-385D27AE97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31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 err="1"/>
              <a:t>Sentence</a:t>
            </a:r>
            <a:r>
              <a:rPr lang="pt-BR" dirty="0"/>
              <a:t> </a:t>
            </a:r>
            <a:r>
              <a:rPr lang="pt-BR" dirty="0" err="1"/>
              <a:t>Formation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661CC76-8C75-75F7-4DB5-F8332C125A26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66F5FE24-6EE9-EEDC-B37F-713A3BABBD30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>
            <a:extLst>
              <a:ext uri="{FF2B5EF4-FFF2-40B4-BE49-F238E27FC236}">
                <a16:creationId xmlns:a16="http://schemas.microsoft.com/office/drawing/2014/main" id="{DA37FC2E-9C24-52B2-54D7-C2FBB12878FF}"/>
              </a:ext>
            </a:extLst>
          </p:cNvPr>
          <p:cNvCxnSpPr/>
          <p:nvPr/>
        </p:nvCxnSpPr>
        <p:spPr>
          <a:xfrm>
            <a:off x="270310" y="904773"/>
            <a:ext cx="432094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">
            <a:extLst>
              <a:ext uri="{FF2B5EF4-FFF2-40B4-BE49-F238E27FC236}">
                <a16:creationId xmlns:a16="http://schemas.microsoft.com/office/drawing/2014/main" id="{DA9F7D19-9E48-ECC0-A81C-FA94EBFF1565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7719" y="6443874"/>
            <a:ext cx="2414280" cy="41917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3;p3">
            <a:extLst>
              <a:ext uri="{FF2B5EF4-FFF2-40B4-BE49-F238E27FC236}">
                <a16:creationId xmlns:a16="http://schemas.microsoft.com/office/drawing/2014/main" id="{4851CB8C-2EBB-1ED6-DCEE-976891DDDFE9}"/>
              </a:ext>
            </a:extLst>
          </p:cNvPr>
          <p:cNvSpPr txBox="1"/>
          <p:nvPr/>
        </p:nvSpPr>
        <p:spPr>
          <a:xfrm>
            <a:off x="664144" y="1568918"/>
            <a:ext cx="7760528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Para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frases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negativas</a:t>
            </a:r>
            <a:r>
              <a:rPr lang="en-US" sz="20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, </a:t>
            </a:r>
            <a:r>
              <a:rPr lang="en-US" sz="200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usamos</a:t>
            </a:r>
            <a:r>
              <a:rPr lang="en-US" sz="20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o Not: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She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didn’t see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the movie (Ela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não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viu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o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filme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)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They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weren’t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there (Eles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não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estavam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lá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)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They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didn’t travel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this year (Eles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não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viajaram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este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ano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)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didn’t see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you yesterday (Eu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não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vi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ontem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94489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4A7CB12B-91C3-F0B9-2EF5-C63CCB50B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D5F3EE86-960B-45FD-85AA-802D8A717C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31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 err="1"/>
              <a:t>Sentence</a:t>
            </a:r>
            <a:r>
              <a:rPr lang="pt-BR" dirty="0"/>
              <a:t> </a:t>
            </a:r>
            <a:r>
              <a:rPr lang="pt-BR" dirty="0" err="1"/>
              <a:t>Formation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293F349-1099-7C58-E6FD-EFB72B35E50E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5245F27-28F6-884B-C193-41D92704E0D4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>
            <a:extLst>
              <a:ext uri="{FF2B5EF4-FFF2-40B4-BE49-F238E27FC236}">
                <a16:creationId xmlns:a16="http://schemas.microsoft.com/office/drawing/2014/main" id="{92AA0C5A-B270-A451-0ADA-829853E94B99}"/>
              </a:ext>
            </a:extLst>
          </p:cNvPr>
          <p:cNvCxnSpPr/>
          <p:nvPr/>
        </p:nvCxnSpPr>
        <p:spPr>
          <a:xfrm>
            <a:off x="270310" y="904773"/>
            <a:ext cx="432094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">
            <a:extLst>
              <a:ext uri="{FF2B5EF4-FFF2-40B4-BE49-F238E27FC236}">
                <a16:creationId xmlns:a16="http://schemas.microsoft.com/office/drawing/2014/main" id="{CC34FD51-61CA-2803-13D9-EBDDE72E19DE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7719" y="6443874"/>
            <a:ext cx="2414280" cy="41917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3;p3">
            <a:extLst>
              <a:ext uri="{FF2B5EF4-FFF2-40B4-BE49-F238E27FC236}">
                <a16:creationId xmlns:a16="http://schemas.microsoft.com/office/drawing/2014/main" id="{CA023F86-7F4B-5C1F-FF55-F6A0FDCCC479}"/>
              </a:ext>
            </a:extLst>
          </p:cNvPr>
          <p:cNvSpPr txBox="1"/>
          <p:nvPr/>
        </p:nvSpPr>
        <p:spPr>
          <a:xfrm>
            <a:off x="664144" y="1568918"/>
            <a:ext cx="7760528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Agora, para </a:t>
            </a:r>
            <a:r>
              <a:rPr lang="en-US" sz="200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criar</a:t>
            </a:r>
            <a:r>
              <a:rPr lang="en-US" sz="20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frases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interrogativas</a:t>
            </a:r>
            <a:r>
              <a:rPr lang="en-US" sz="20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, </a:t>
            </a:r>
            <a:r>
              <a:rPr lang="en-US" sz="200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colocamos</a:t>
            </a:r>
            <a:r>
              <a:rPr lang="en-US" sz="20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o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did no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começo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da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frase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e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voltamos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o verbo para a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sua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forma original: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You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lived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abroad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–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Did you live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abroad? (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Você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morou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fora?)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When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did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you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meet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your wife? (Quando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você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conheceu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sua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esposa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?)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Where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did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they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go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? (Onde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eles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foram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?)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Didn’t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you know? (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Você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não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sabia?)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2662396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1677C84B-A4EA-9127-D915-C48537561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A7EDF6E5-85EA-1384-52D4-A4F96F1FCC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031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dirty="0" err="1"/>
              <a:t>Sentence</a:t>
            </a:r>
            <a:r>
              <a:rPr lang="pt-BR" dirty="0"/>
              <a:t> </a:t>
            </a:r>
            <a:r>
              <a:rPr lang="pt-BR" dirty="0" err="1"/>
              <a:t>Formation</a:t>
            </a:r>
            <a:endParaRPr dirty="0"/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635AD10-8473-35AB-87F7-13BEB1D2A633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7C35A81-284B-279D-3FCA-9B086BB8772B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>
            <a:extLst>
              <a:ext uri="{FF2B5EF4-FFF2-40B4-BE49-F238E27FC236}">
                <a16:creationId xmlns:a16="http://schemas.microsoft.com/office/drawing/2014/main" id="{B371C1FD-AF77-0981-2AE1-1C797321C2D1}"/>
              </a:ext>
            </a:extLst>
          </p:cNvPr>
          <p:cNvCxnSpPr/>
          <p:nvPr/>
        </p:nvCxnSpPr>
        <p:spPr>
          <a:xfrm>
            <a:off x="270310" y="904773"/>
            <a:ext cx="432094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3" name="Google Shape;103;p2">
            <a:extLst>
              <a:ext uri="{FF2B5EF4-FFF2-40B4-BE49-F238E27FC236}">
                <a16:creationId xmlns:a16="http://schemas.microsoft.com/office/drawing/2014/main" id="{21A093A1-4E0D-D123-7013-57208D22261D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77719" y="6443874"/>
            <a:ext cx="2414280" cy="41917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3;p3">
            <a:extLst>
              <a:ext uri="{FF2B5EF4-FFF2-40B4-BE49-F238E27FC236}">
                <a16:creationId xmlns:a16="http://schemas.microsoft.com/office/drawing/2014/main" id="{31308878-1B87-7487-F300-CB226F177767}"/>
              </a:ext>
            </a:extLst>
          </p:cNvPr>
          <p:cNvSpPr txBox="1"/>
          <p:nvPr/>
        </p:nvSpPr>
        <p:spPr>
          <a:xfrm>
            <a:off x="664144" y="1568918"/>
            <a:ext cx="7760528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Algumas</a:t>
            </a:r>
            <a:r>
              <a:rPr lang="en-US" sz="200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frase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com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Question Words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podem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não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usar o did, tendo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os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seus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verbos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principais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no passado: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Who wrote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Hamlet? (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Quem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escreveu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Hamlet?)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What caused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the problem? (O que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causou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o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problema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?)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Which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team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won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the game? (Qual time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ganhou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o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jogo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?)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Isso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acontece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pois nesses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casos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as Question Words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funcionam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como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o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sujeito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das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frases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inutilizando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o did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como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verbo auxiliar.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3714572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DA79EA4C-7A8A-A0B6-01DF-00BC512E2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FA2DD948-B374-15D5-05E3-2B860F18214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-806510" y="117973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 dirty="0"/>
              <a:t>LINGUESC</a:t>
            </a:r>
            <a:endParaRPr dirty="0"/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DDF71BC4-93E3-E4D7-1E15-3C00A63CF69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836071" y="3636744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dirty="0"/>
              <a:t>BÁSICO II A – AULA 02</a:t>
            </a:r>
            <a:endParaRPr dirty="0"/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2062B534-0547-981F-9316-C8E087A6EE5F}"/>
              </a:ext>
            </a:extLst>
          </p:cNvPr>
          <p:cNvSpPr/>
          <p:nvPr/>
        </p:nvSpPr>
        <p:spPr>
          <a:xfrm>
            <a:off x="0" y="6574054"/>
            <a:ext cx="12192001" cy="283945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1">
            <a:extLst>
              <a:ext uri="{FF2B5EF4-FFF2-40B4-BE49-F238E27FC236}">
                <a16:creationId xmlns:a16="http://schemas.microsoft.com/office/drawing/2014/main" id="{E94DA446-CC28-680B-3A9B-94A558F48771}"/>
              </a:ext>
            </a:extLst>
          </p:cNvPr>
          <p:cNvCxnSpPr/>
          <p:nvPr/>
        </p:nvCxnSpPr>
        <p:spPr>
          <a:xfrm>
            <a:off x="1953929" y="3602038"/>
            <a:ext cx="356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C529D3F8-AC2E-AC5E-6DA8-61AD611D159E}"/>
              </a:ext>
            </a:extLst>
          </p:cNvPr>
          <p:cNvSpPr/>
          <p:nvPr/>
        </p:nvSpPr>
        <p:spPr>
          <a:xfrm>
            <a:off x="1" y="6472989"/>
            <a:ext cx="12191999" cy="10106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">
            <a:extLst>
              <a:ext uri="{FF2B5EF4-FFF2-40B4-BE49-F238E27FC236}">
                <a16:creationId xmlns:a16="http://schemas.microsoft.com/office/drawing/2014/main" id="{F72F9294-26E8-BB2E-34A9-963DEC89E67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8492" y="1571912"/>
            <a:ext cx="2686425" cy="2753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>
            <a:extLst>
              <a:ext uri="{FF2B5EF4-FFF2-40B4-BE49-F238E27FC236}">
                <a16:creationId xmlns:a16="http://schemas.microsoft.com/office/drawing/2014/main" id="{3CECBD72-1B03-C8A5-0CBA-7CB701DC406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4813"/>
            <a:ext cx="2811774" cy="4881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84565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BF6DCE98EB7D04EB7A1353A634F2BAD" ma:contentTypeVersion="4" ma:contentTypeDescription="Crie um novo documento." ma:contentTypeScope="" ma:versionID="9710c02d3a6eb5486de1b99547d42735">
  <xsd:schema xmlns:xsd="http://www.w3.org/2001/XMLSchema" xmlns:xs="http://www.w3.org/2001/XMLSchema" xmlns:p="http://schemas.microsoft.com/office/2006/metadata/properties" xmlns:ns3="406f4d40-1b8d-41bc-af64-f5da6570ab7c" targetNamespace="http://schemas.microsoft.com/office/2006/metadata/properties" ma:root="true" ma:fieldsID="5aa85b73717c080d4006a45e7ef5cdbb" ns3:_="">
    <xsd:import namespace="406f4d40-1b8d-41bc-af64-f5da6570ab7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6f4d40-1b8d-41bc-af64-f5da6570ab7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9D035D-C4CD-46FF-8E9C-AE94D43E81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5A25691-BEDB-474A-83C3-3DFC0AE46ADE}">
  <ds:schemaRefs>
    <ds:schemaRef ds:uri="http://schemas.microsoft.com/office/2006/metadata/properties"/>
    <ds:schemaRef ds:uri="http://www.w3.org/2000/xmlns/"/>
  </ds:schemaRefs>
</ds:datastoreItem>
</file>

<file path=customXml/itemProps3.xml><?xml version="1.0" encoding="utf-8"?>
<ds:datastoreItem xmlns:ds="http://schemas.openxmlformats.org/officeDocument/2006/customXml" ds:itemID="{E954F566-84C9-4D56-94F6-6CCBEE898E3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06f4d40-1b8d-41bc-af64-f5da6570ab7c"/>
  </ds:schemaRefs>
</ds:datastoreItem>
</file>

<file path=docMetadata/LabelInfo.xml><?xml version="1.0" encoding="utf-8"?>
<clbl:labelList xmlns:clbl="http://schemas.microsoft.com/office/2020/mipLabelMetadata">
  <clbl:label id="{a5b6e4a8-c58e-4e8a-97a9-a7f56415a11d}" enabled="0" method="" siteId="{a5b6e4a8-c58e-4e8a-97a9-a7f56415a11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Linguesc Aula 01</Template>
  <TotalTime>64</TotalTime>
  <Words>801</Words>
  <Application>Microsoft Office PowerPoint</Application>
  <PresentationFormat>Widescreen</PresentationFormat>
  <Paragraphs>112</Paragraphs>
  <Slides>14</Slides>
  <Notes>14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Tema do Office</vt:lpstr>
      <vt:lpstr>LINGUESC</vt:lpstr>
      <vt:lpstr>Past Simple</vt:lpstr>
      <vt:lpstr>Simple Past</vt:lpstr>
      <vt:lpstr>How to use</vt:lpstr>
      <vt:lpstr>How to use</vt:lpstr>
      <vt:lpstr>How to use</vt:lpstr>
      <vt:lpstr>To be</vt:lpstr>
      <vt:lpstr>PRESENT SIMPLE STRUCTURE</vt:lpstr>
      <vt:lpstr>To Do</vt:lpstr>
      <vt:lpstr>Sentence Formation</vt:lpstr>
      <vt:lpstr>Sentence Formation</vt:lpstr>
      <vt:lpstr>Sentence Formation</vt:lpstr>
      <vt:lpstr>Sentence Formation</vt:lpstr>
      <vt:lpstr>LINGUESC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LINGUESC</dc:title>
  <dc:creator>VANDRE LUIZ BARROS SANTANA</dc:creator>
  <cp:lastModifiedBy>Vandré Luiz</cp:lastModifiedBy>
  <cp:revision>2</cp:revision>
  <dcterms:created xsi:type="dcterms:W3CDTF">2025-04-30T09:44:40Z</dcterms:created>
  <dcterms:modified xsi:type="dcterms:W3CDTF">2025-04-30T14:15:34Z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0x0101006BF6DCE98EB7D04EB7A1353A634F2BAD</vt:lpwstr>
  </property>
</Properties>
</file>