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5" Type="http://schemas.microsoft.com/office/2020/02/relationships/classificationlabels" Target="docMetadata/LabelInfo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8" r:id="rId6"/>
    <p:sldId id="261" r:id="rId7"/>
    <p:sldId id="262" r:id="rId8"/>
    <p:sldId id="265" r:id="rId9"/>
    <p:sldId id="264" r:id="rId10"/>
    <p:sldId id="263" r:id="rId11"/>
    <p:sldId id="271" r:id="rId12"/>
    <p:sldId id="267" r:id="rId13"/>
    <p:sldId id="266" r:id="rId14"/>
    <p:sldId id="269" r:id="rId15"/>
    <p:sldId id="268" r:id="rId16"/>
    <p:sldId id="272" r:id="rId17"/>
    <p:sldId id="273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384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hoeWFl+xJbZWhii2KkI0A9O7KX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3" Type="http://schemas.openxmlformats.org/officeDocument/2006/relationships/customXml" Target="../customXml/item3.xml" /><Relationship Id="rId21" Type="http://customschemas.google.com/relationships/presentationmetadata" Target="metadata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tableStyles" Target="tableStyles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theme" Target="theme/theme1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viewProps" Target="viewProps.xml" /><Relationship Id="rId10" Type="http://schemas.openxmlformats.org/officeDocument/2006/relationships/slide" Target="slides/slide6.xml" /><Relationship Id="rId19" Type="http://schemas.openxmlformats.org/officeDocument/2006/relationships/notesMaster" Target="notesMasters/notesMaster1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2336874-2CEF-8CF3-B046-55E67BA6F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8FDD8A60-0D8B-51E3-B24A-CD40CC794F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37AD1A15-1126-D94B-185D-FCEBAE70D0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3494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74BB589D-2EF4-545A-15DF-C86C7ECBD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6EFF415-F31A-9717-67A4-5ED78C1C69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6C98F3B9-71EB-F191-F066-69CBED4F21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3907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F3A211E7-2B1D-5999-09A2-6B083E524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3184D41-BAC7-8F2F-56DE-923DE54C36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3A90BED5-2D45-A455-8F28-6C8ED0A730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4340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662B89B3-DE59-379A-8F3A-4643109B8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8DE0185-0505-1213-10BC-0807653118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F7891BD4-123B-CA82-FCE1-1749BCCC33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7004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74CAAC12-0653-2A07-DD8F-19AE42F2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AE2B799-9D5A-57EC-9D9F-377B1C13CA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218AE4CA-8FEB-C9C0-83F3-CBF15B49DB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119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1862347E-29DE-6533-D057-98B6F9572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BBFC058-2AF6-59E6-F985-C1FBBE3E48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DE9A376B-BDF2-3B0F-6B19-6B30A9DBD3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0775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20E74D42-2C8C-5CBE-ACF4-290E73E39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1B8CF77-A956-8559-454D-646390A1B7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9226E343-F518-4387-4A7E-155E1C60A8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3861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940B4098-6FC6-1471-4738-793496F22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A406EE2-845A-5DBD-B80D-FEA3071212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547F8AC7-02D2-0438-7356-0D12F803B6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7859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7F0F0FCD-5060-E358-8176-D47BAF298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AA4652B-557B-3B06-0872-CCE32599B8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95FCD9BE-FD35-C356-23AC-74A4A1E8AD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5144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EC61EAEF-4F91-D1D2-90A9-BF212C993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03E210C-27B2-DB7A-8915-23CBE45556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34F5CBF4-FBB2-395D-8D23-AB8D191EE5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80788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C676B1DB-9AD8-24E3-51AD-C2960813F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025496A-D41B-39A6-411E-EF3527A572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4CE1879B-431D-FF8D-E0C3-1EA492F19E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82999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EE05D88-6EE0-7F28-0522-D26F70E43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61869E6-0A8D-EC94-DDCF-37CBBA2CB5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E4F43CA7-7AC1-44DD-4617-55ED7B9689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9312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jp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-806510" y="117973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 dirty="0"/>
              <a:t>LINGUESC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-836071" y="3636744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/>
              <a:t>BÁSICO II A – AULA 01</a:t>
            </a:r>
            <a:endParaRPr dirty="0"/>
          </a:p>
        </p:txBody>
      </p:sp>
      <p:sp>
        <p:nvSpPr>
          <p:cNvPr id="86" name="Google Shape;86;p1"/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1"/>
          <p:cNvCxnSpPr/>
          <p:nvPr/>
        </p:nvCxnSpPr>
        <p:spPr>
          <a:xfrm>
            <a:off x="1953929" y="3602038"/>
            <a:ext cx="356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"/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8492" y="1571912"/>
            <a:ext cx="2686425" cy="2753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4813"/>
            <a:ext cx="2811774" cy="488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/>
              <a:t>CRONOGRAMA</a:t>
            </a:r>
            <a:endParaRPr dirty="0"/>
          </a:p>
        </p:txBody>
      </p:sp>
      <p:sp>
        <p:nvSpPr>
          <p:cNvPr id="100" name="Google Shape;100;p2"/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270310" y="904773"/>
            <a:ext cx="432094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3;p3">
            <a:extLst>
              <a:ext uri="{FF2B5EF4-FFF2-40B4-BE49-F238E27FC236}">
                <a16:creationId xmlns:a16="http://schemas.microsoft.com/office/drawing/2014/main" id="{7DED1AC7-92EE-1E39-6DAC-565C8D417B5A}"/>
              </a:ext>
            </a:extLst>
          </p:cNvPr>
          <p:cNvSpPr txBox="1"/>
          <p:nvPr/>
        </p:nvSpPr>
        <p:spPr>
          <a:xfrm>
            <a:off x="664144" y="1568918"/>
            <a:ext cx="10121766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Aula 01 – Review: Verb tenses – Present Simple and Continuous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Aula 02 – Past Simple – Verb to be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Aula 03 – Past Simple – Regular and Irregular verbs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Aula 04 – Past Continuous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Aula 05 – Countable/uncountable nouns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Aula 06 – Definite article - the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Aula 07 – Indefinite articles- a/an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Aula 08 – Some – any – no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Aula 09 – Adjectives – Comparatives and Superlatives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Aula 10 – Adverbs – Manner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1E7098F0-D4BE-EF29-E6DD-1E605D27C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83FD2A58-D068-4CA8-F440-B39F66E6C93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394995" y="2248517"/>
            <a:ext cx="5402009" cy="118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 dirty="0" err="1"/>
              <a:t>Present</a:t>
            </a:r>
            <a:r>
              <a:rPr lang="pt-BR" dirty="0"/>
              <a:t> </a:t>
            </a:r>
            <a:r>
              <a:rPr lang="pt-BR" dirty="0" err="1"/>
              <a:t>Simple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Continuous</a:t>
            </a:r>
            <a:endParaRPr lang="pt-BR" dirty="0"/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E2C3749C-FAAB-A61C-2BED-F481E82C1EB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15893" y="3530065"/>
            <a:ext cx="4760211" cy="509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 err="1"/>
              <a:t>Let’s</a:t>
            </a:r>
            <a:r>
              <a:rPr lang="pt-BR" dirty="0"/>
              <a:t> review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verb</a:t>
            </a:r>
            <a:r>
              <a:rPr lang="pt-BR" dirty="0"/>
              <a:t> tenses </a:t>
            </a:r>
            <a:r>
              <a:rPr lang="pt-BR" dirty="0" err="1"/>
              <a:t>together</a:t>
            </a:r>
            <a:r>
              <a:rPr lang="pt-BR" dirty="0"/>
              <a:t>!</a:t>
            </a:r>
            <a:endParaRPr dirty="0"/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59C29E45-344D-F61A-88B1-9758E1EE1C88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1">
            <a:extLst>
              <a:ext uri="{FF2B5EF4-FFF2-40B4-BE49-F238E27FC236}">
                <a16:creationId xmlns:a16="http://schemas.microsoft.com/office/drawing/2014/main" id="{18EE7507-4B6B-C7C4-AE42-EF117708B616}"/>
              </a:ext>
            </a:extLst>
          </p:cNvPr>
          <p:cNvCxnSpPr>
            <a:cxnSpLocks/>
          </p:cNvCxnSpPr>
          <p:nvPr/>
        </p:nvCxnSpPr>
        <p:spPr>
          <a:xfrm>
            <a:off x="4097208" y="3429000"/>
            <a:ext cx="437889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447A7959-A226-7C18-DB03-A99532D05493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>
            <a:extLst>
              <a:ext uri="{FF2B5EF4-FFF2-40B4-BE49-F238E27FC236}">
                <a16:creationId xmlns:a16="http://schemas.microsoft.com/office/drawing/2014/main" id="{B9671B7A-90D6-5BED-5515-42FFB54F21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813"/>
            <a:ext cx="2811774" cy="4881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5471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3508CF4A-D138-3ADA-1EAD-FDC53CB10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97C75904-D66D-B374-7FD4-3ECC9FDEA2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/>
              <a:t>PRESENT SIMPLE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DB2C621-8FBC-857A-A5FB-B6BF2AF99841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2CA79B2F-F14A-10D5-E09A-7E46880578AD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A4B06040-86F4-2A05-320B-0AD43E38EAFD}"/>
              </a:ext>
            </a:extLst>
          </p:cNvPr>
          <p:cNvCxnSpPr/>
          <p:nvPr/>
        </p:nvCxnSpPr>
        <p:spPr>
          <a:xfrm>
            <a:off x="270310" y="904773"/>
            <a:ext cx="432094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B5D2A785-DBF1-3A4D-8424-237027C224D1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3;p3">
            <a:extLst>
              <a:ext uri="{FF2B5EF4-FFF2-40B4-BE49-F238E27FC236}">
                <a16:creationId xmlns:a16="http://schemas.microsoft.com/office/drawing/2014/main" id="{D84EEA25-8C0E-7507-C971-F9625F5F88E8}"/>
              </a:ext>
            </a:extLst>
          </p:cNvPr>
          <p:cNvSpPr txBox="1"/>
          <p:nvPr/>
        </p:nvSpPr>
        <p:spPr>
          <a:xfrm>
            <a:off x="664144" y="1568918"/>
            <a:ext cx="10121766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We use the Present Simple for: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Routines and habits;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General facts and truths;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Fixed sche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dules;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Examples: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 go to the gym twice a week;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She doesn’t like her job;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We wake up early at weekends;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Nowad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ays, a lot of people work at home;</a:t>
            </a:r>
            <a:endParaRPr lang="en-US"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617044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80EB12FE-305E-2B38-D359-D7BD98633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891661D9-92C7-5F0B-CF46-9A8971399E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/>
              <a:t>PRESENT SIMPLE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4E4FC996-E62A-FE4E-126C-1603749E7D62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516B302-0289-EA38-C7E5-812858D921AF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20BC1301-59C4-A3CA-911F-21777A9FC3BF}"/>
              </a:ext>
            </a:extLst>
          </p:cNvPr>
          <p:cNvCxnSpPr/>
          <p:nvPr/>
        </p:nvCxnSpPr>
        <p:spPr>
          <a:xfrm>
            <a:off x="270310" y="904773"/>
            <a:ext cx="432094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3736E10E-B041-64FE-5479-ABCC028901C0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3;p3">
            <a:extLst>
              <a:ext uri="{FF2B5EF4-FFF2-40B4-BE49-F238E27FC236}">
                <a16:creationId xmlns:a16="http://schemas.microsoft.com/office/drawing/2014/main" id="{1E20FEEC-E132-779C-AEFC-98451BD7D1C4}"/>
              </a:ext>
            </a:extLst>
          </p:cNvPr>
          <p:cNvSpPr txBox="1"/>
          <p:nvPr/>
        </p:nvSpPr>
        <p:spPr>
          <a:xfrm>
            <a:off x="664144" y="1568918"/>
            <a:ext cx="7760528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Remember: 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For he, she and it, we add “s” or “es” by the end of the verb. We also change “y” to “I”.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My brother works at UDESC;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The cat loves to sleep;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She wants to eat;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Have, go and do are irregular verbs for he, she and it: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He has a studio in the city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centre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She does yoga on Tuesdays;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My dog goes for a walk every morning;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297452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18799889-0013-A2E8-707C-2CF999803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BA87F08D-46A3-6B06-CE66-816D090728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/>
              <a:t>PRESENT SIMPLE STRUCTURE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FD39BDB-44C3-DF11-6FF2-42F6FB11B822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DC2452A-CE14-310D-F343-219171CE63E1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037A48D9-64C3-4077-A4DA-C77F395953D1}"/>
              </a:ext>
            </a:extLst>
          </p:cNvPr>
          <p:cNvCxnSpPr>
            <a:cxnSpLocks/>
          </p:cNvCxnSpPr>
          <p:nvPr/>
        </p:nvCxnSpPr>
        <p:spPr>
          <a:xfrm>
            <a:off x="270310" y="904773"/>
            <a:ext cx="683762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556A046C-91F4-EEBA-22A3-0AAEEE0FF612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C6496DA8-AA66-CC6E-7767-6172393C2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96073"/>
              </p:ext>
            </p:extLst>
          </p:nvPr>
        </p:nvGraphicFramePr>
        <p:xfrm>
          <a:off x="270310" y="1416703"/>
          <a:ext cx="8763963" cy="4024593"/>
        </p:xfrm>
        <a:graphic>
          <a:graphicData uri="http://schemas.openxmlformats.org/drawingml/2006/table">
            <a:tbl>
              <a:tblPr/>
              <a:tblGrid>
                <a:gridCol w="2921321">
                  <a:extLst>
                    <a:ext uri="{9D8B030D-6E8A-4147-A177-3AD203B41FA5}">
                      <a16:colId xmlns:a16="http://schemas.microsoft.com/office/drawing/2014/main" val="1471504366"/>
                    </a:ext>
                  </a:extLst>
                </a:gridCol>
                <a:gridCol w="2921321">
                  <a:extLst>
                    <a:ext uri="{9D8B030D-6E8A-4147-A177-3AD203B41FA5}">
                      <a16:colId xmlns:a16="http://schemas.microsoft.com/office/drawing/2014/main" val="3806607373"/>
                    </a:ext>
                  </a:extLst>
                </a:gridCol>
                <a:gridCol w="2921321">
                  <a:extLst>
                    <a:ext uri="{9D8B030D-6E8A-4147-A177-3AD203B41FA5}">
                      <a16:colId xmlns:a16="http://schemas.microsoft.com/office/drawing/2014/main" val="1203567574"/>
                    </a:ext>
                  </a:extLst>
                </a:gridCol>
              </a:tblGrid>
              <a:tr h="476027">
                <a:tc>
                  <a:txBody>
                    <a:bodyPr/>
                    <a:lstStyle/>
                    <a:p>
                      <a:pPr algn="l"/>
                      <a:r>
                        <a:rPr lang="pt-BR" sz="1800" b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+ </a:t>
                      </a:r>
                      <a:r>
                        <a:rPr lang="pt-BR" sz="1800" b="0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Affirmative</a:t>
                      </a:r>
                      <a:endParaRPr lang="pt-BR" sz="1800" b="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60960" marB="60960" anchor="ctr">
                    <a:lnL>
                      <a:noFill/>
                    </a:lnL>
                    <a:lnR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08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b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Negative</a:t>
                      </a:r>
                    </a:p>
                  </a:txBody>
                  <a:tcPr marL="152400" marR="152400" marT="60960" marB="60960" anchor="ctr">
                    <a:lnL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08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b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? Question</a:t>
                      </a:r>
                    </a:p>
                  </a:txBody>
                  <a:tcPr marL="152400" marR="152400" marT="60960" marB="60960" anchor="ctr">
                    <a:lnL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0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116143"/>
                  </a:ext>
                </a:extLst>
              </a:tr>
              <a:tr h="649128">
                <a:tc>
                  <a:txBody>
                    <a:bodyPr/>
                    <a:lstStyle/>
                    <a:p>
                      <a:r>
                        <a:rPr lang="pt-BR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 </a:t>
                      </a:r>
                      <a:r>
                        <a:rPr lang="pt-BR" sz="18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like</a:t>
                      </a:r>
                      <a:r>
                        <a:rPr lang="pt-BR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ice cream.</a:t>
                      </a:r>
                      <a:endParaRPr lang="pt-BR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121920" marB="121920" anchor="ctr">
                    <a:lnL>
                      <a:noFill/>
                    </a:lnL>
                    <a:lnR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 </a:t>
                      </a:r>
                      <a:r>
                        <a:rPr lang="en-US" sz="18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don't like</a:t>
                      </a:r>
                      <a:r>
                        <a:rPr lang="en-US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ice cream.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121920" marB="121920" anchor="ctr">
                    <a:lnL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 I like</a:t>
                      </a:r>
                      <a:r>
                        <a:rPr lang="en-US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ice cream?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121920" marB="121920" anchor="ctr">
                    <a:lnL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54646"/>
                  </a:ext>
                </a:extLst>
              </a:tr>
              <a:tr h="649128">
                <a:tc>
                  <a:txBody>
                    <a:bodyPr/>
                    <a:lstStyle/>
                    <a:p>
                      <a:r>
                        <a:rPr lang="en-US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You </a:t>
                      </a:r>
                      <a:r>
                        <a:rPr lang="en-US" sz="18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</a:t>
                      </a:r>
                      <a:r>
                        <a:rPr lang="en-US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to the gym.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121920" marB="121920" anchor="ctr">
                    <a:lnL>
                      <a:noFill/>
                    </a:lnL>
                    <a:lnR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You </a:t>
                      </a:r>
                      <a:r>
                        <a:rPr lang="en-US" sz="18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don't go</a:t>
                      </a:r>
                      <a:r>
                        <a:rPr lang="en-US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to the gym.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121920" marB="121920" anchor="ctr">
                    <a:lnL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 you go</a:t>
                      </a:r>
                      <a:r>
                        <a:rPr lang="en-US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to the gym?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121920" marB="121920" anchor="ctr">
                    <a:lnL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495993"/>
                  </a:ext>
                </a:extLst>
              </a:tr>
              <a:tr h="649128">
                <a:tc>
                  <a:txBody>
                    <a:bodyPr/>
                    <a:lstStyle/>
                    <a:p>
                      <a:r>
                        <a:rPr lang="en-US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He/she/it </a:t>
                      </a:r>
                      <a:r>
                        <a:rPr lang="en-US" sz="18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eats</a:t>
                      </a:r>
                      <a:r>
                        <a:rPr lang="en-US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meat.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121920" marB="121920" anchor="ctr">
                    <a:lnL>
                      <a:noFill/>
                    </a:lnL>
                    <a:lnR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He/she/it </a:t>
                      </a:r>
                      <a:r>
                        <a:rPr lang="en-US" sz="18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doesn't eat</a:t>
                      </a:r>
                      <a:r>
                        <a:rPr lang="en-US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meat.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121920" marB="121920" anchor="ctr">
                    <a:lnL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Does he/she/it eat</a:t>
                      </a:r>
                      <a:r>
                        <a:rPr lang="en-US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meat?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121920" marB="121920" anchor="ctr">
                    <a:lnL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844097"/>
                  </a:ext>
                </a:extLst>
              </a:tr>
              <a:tr h="952054">
                <a:tc>
                  <a:txBody>
                    <a:bodyPr/>
                    <a:lstStyle/>
                    <a:p>
                      <a:r>
                        <a:rPr lang="en-US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 </a:t>
                      </a:r>
                      <a:r>
                        <a:rPr lang="en-US" sz="18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watch</a:t>
                      </a:r>
                      <a:r>
                        <a:rPr lang="en-US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a lot of films.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121920" marB="121920" anchor="ctr">
                    <a:lnL>
                      <a:noFill/>
                    </a:lnL>
                    <a:lnR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 </a:t>
                      </a:r>
                      <a:r>
                        <a:rPr lang="en-US" sz="18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don't watch</a:t>
                      </a:r>
                      <a:r>
                        <a:rPr lang="en-US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a lot of films. 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121920" marB="121920" anchor="ctr">
                    <a:lnL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 we watch</a:t>
                      </a:r>
                      <a:r>
                        <a:rPr lang="en-US" sz="1800" b="0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a lot of films?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121920" marB="121920" anchor="ctr">
                    <a:lnL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063719"/>
                  </a:ext>
                </a:extLst>
              </a:tr>
              <a:tr h="649128">
                <a:tc>
                  <a:txBody>
                    <a:bodyPr/>
                    <a:lstStyle/>
                    <a:p>
                      <a:r>
                        <a:rPr lang="pt-BR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They </a:t>
                      </a:r>
                      <a:r>
                        <a:rPr lang="pt-BR" sz="18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</a:t>
                      </a:r>
                      <a:r>
                        <a:rPr lang="pt-BR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at home.</a:t>
                      </a:r>
                      <a:endParaRPr lang="pt-BR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121920" marB="121920" anchor="ctr">
                    <a:lnL>
                      <a:noFill/>
                    </a:lnL>
                    <a:lnR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They </a:t>
                      </a:r>
                      <a:r>
                        <a:rPr lang="en-US" sz="18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don't work</a:t>
                      </a:r>
                      <a:r>
                        <a:rPr lang="en-US" sz="1800" b="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at home.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121920" marB="121920" anchor="ctr">
                    <a:lnL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 they work</a:t>
                      </a:r>
                      <a:r>
                        <a:rPr lang="en-US" sz="1800" b="0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at home?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121920" marB="121920" anchor="ctr">
                    <a:lnL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07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58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EAE5B3F7-F063-2033-D823-E83812193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375CBE63-B5C8-FB56-C8EA-1CD6B4B12C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/>
              <a:t>QUESTION WORDS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42960215-B43E-7FF8-E594-9DF4682F0541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BC5C1716-A79D-10CE-B89A-A08FD930C030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9E776594-EAE8-B2CA-4023-605F7D07A776}"/>
              </a:ext>
            </a:extLst>
          </p:cNvPr>
          <p:cNvCxnSpPr/>
          <p:nvPr/>
        </p:nvCxnSpPr>
        <p:spPr>
          <a:xfrm>
            <a:off x="270310" y="904773"/>
            <a:ext cx="432094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1BAA983A-BE5F-0214-823E-172A05341B4A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3;p3">
            <a:extLst>
              <a:ext uri="{FF2B5EF4-FFF2-40B4-BE49-F238E27FC236}">
                <a16:creationId xmlns:a16="http://schemas.microsoft.com/office/drawing/2014/main" id="{DC6DBA7F-F716-B4C0-7F30-98D79D540BB9}"/>
              </a:ext>
            </a:extLst>
          </p:cNvPr>
          <p:cNvSpPr txBox="1"/>
          <p:nvPr/>
        </p:nvSpPr>
        <p:spPr>
          <a:xfrm>
            <a:off x="664144" y="1568918"/>
            <a:ext cx="7760528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Used to ask specific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informations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in a sentence: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Who – Who do you work with?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What – What does she want?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Where: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When;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Why;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How;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Which;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Whose: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The question words come before the verb to be.</a:t>
            </a:r>
          </a:p>
        </p:txBody>
      </p:sp>
    </p:spTree>
    <p:extLst>
      <p:ext uri="{BB962C8B-B14F-4D97-AF65-F5344CB8AC3E}">
        <p14:creationId xmlns:p14="http://schemas.microsoft.com/office/powerpoint/2010/main" val="3990924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9A64F7BE-1791-A9DA-1671-2C721A29E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D84167EC-432A-D4FC-CCC3-0756F7F045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/>
              <a:t>EXERCISE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847F456D-6EEA-37FA-87D2-BBBED9AFCD46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0A4E9514-0B4B-CB19-6A56-FD9FF4C17C89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AB3E8DBD-D2FD-69E1-1168-9499BA6B1FEB}"/>
              </a:ext>
            </a:extLst>
          </p:cNvPr>
          <p:cNvCxnSpPr/>
          <p:nvPr/>
        </p:nvCxnSpPr>
        <p:spPr>
          <a:xfrm>
            <a:off x="270310" y="904773"/>
            <a:ext cx="432094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A46C4C5C-AB47-6B6C-3C48-DCFAC968A486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3;p3">
            <a:extLst>
              <a:ext uri="{FF2B5EF4-FFF2-40B4-BE49-F238E27FC236}">
                <a16:creationId xmlns:a16="http://schemas.microsoft.com/office/drawing/2014/main" id="{8A2F98A3-36DD-3D95-28E4-4E2D441038D1}"/>
              </a:ext>
            </a:extLst>
          </p:cNvPr>
          <p:cNvSpPr txBox="1"/>
          <p:nvPr/>
        </p:nvSpPr>
        <p:spPr>
          <a:xfrm>
            <a:off x="710986" y="1372933"/>
            <a:ext cx="7760528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Complete the sentences with the verb in the correct tense (Present Simple):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My brother ___ (work) in a hospital.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 ___ (not like) cold weather.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___ she ___ (live) near here?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 usually ___ (have) lunch at 12:30.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They ___ (watch) TV every night.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Peter ___ (not go) to the gym on weekends.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What time ___ you ___ (wake up) on weekdays?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Anna and Tom ___ (study) English on Tuesdays.</a:t>
            </a:r>
          </a:p>
        </p:txBody>
      </p:sp>
    </p:spTree>
    <p:extLst>
      <p:ext uri="{BB962C8B-B14F-4D97-AF65-F5344CB8AC3E}">
        <p14:creationId xmlns:p14="http://schemas.microsoft.com/office/powerpoint/2010/main" val="3717709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66436A6A-5EF1-7D88-FD21-01E9CE2EF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359F3766-1E3D-B991-FB21-46BCA2423F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/>
              <a:t>PRESENT CONTINUOUS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74DAFAE-0464-4CA5-F998-6848D1F7CDD6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8269C3A0-B087-75A8-1971-2B05E598F4B5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EFCAA02A-3CC2-D161-961F-C3A32847EF50}"/>
              </a:ext>
            </a:extLst>
          </p:cNvPr>
          <p:cNvCxnSpPr>
            <a:cxnSpLocks/>
          </p:cNvCxnSpPr>
          <p:nvPr/>
        </p:nvCxnSpPr>
        <p:spPr>
          <a:xfrm>
            <a:off x="270310" y="904773"/>
            <a:ext cx="543554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4A457BDD-D908-5163-5615-373D9C37A75B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3;p3">
            <a:extLst>
              <a:ext uri="{FF2B5EF4-FFF2-40B4-BE49-F238E27FC236}">
                <a16:creationId xmlns:a16="http://schemas.microsoft.com/office/drawing/2014/main" id="{E011F4D5-D381-0EBE-7C22-D8F232482F44}"/>
              </a:ext>
            </a:extLst>
          </p:cNvPr>
          <p:cNvSpPr txBox="1"/>
          <p:nvPr/>
        </p:nvSpPr>
        <p:spPr>
          <a:xfrm>
            <a:off x="664144" y="1568918"/>
            <a:ext cx="10121766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We use the Present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Continuous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for: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Actions happening now;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Temporary actions;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Examples: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I’m talking to you;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She is stud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ying for the test;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They ar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e watching TV;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Verb +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ing</a:t>
            </a:r>
            <a:endParaRPr lang="en-US"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1054216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C8CEED23-B7C1-D848-1425-175A3BAEB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AAD430B4-CEB6-442A-0BEC-C61D606881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/>
              <a:t>PRESENT CONTINUOUS RULES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CDF4295B-8EFA-F78B-11AA-B5B6F6E4BBAF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6E27E42-DB6E-B386-018A-7079CD7FC93B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747C1B3C-1688-2F0E-CC08-CEB38C0E5B39}"/>
              </a:ext>
            </a:extLst>
          </p:cNvPr>
          <p:cNvCxnSpPr>
            <a:cxnSpLocks/>
          </p:cNvCxnSpPr>
          <p:nvPr/>
        </p:nvCxnSpPr>
        <p:spPr>
          <a:xfrm>
            <a:off x="270310" y="904773"/>
            <a:ext cx="695954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FCCD4293-7D7A-A911-4709-502A30B10DE8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3;p3">
            <a:extLst>
              <a:ext uri="{FF2B5EF4-FFF2-40B4-BE49-F238E27FC236}">
                <a16:creationId xmlns:a16="http://schemas.microsoft.com/office/drawing/2014/main" id="{C5026AEA-35FA-ADAA-81DF-21D5A994609C}"/>
              </a:ext>
            </a:extLst>
          </p:cNvPr>
          <p:cNvSpPr txBox="1"/>
          <p:nvPr/>
        </p:nvSpPr>
        <p:spPr>
          <a:xfrm>
            <a:off x="664144" y="1568918"/>
            <a:ext cx="10121766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1. When the main verb ends in “e” and is preceded by a consonant, the vowel is removed and “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ing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” is added.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To dance – dancing;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To make – making;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To be – being;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2. When the verbs ends with “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ie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”, we change the ending to “y” and add “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ing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”.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To die – dying;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To lie – lying;</a:t>
            </a:r>
          </a:p>
        </p:txBody>
      </p:sp>
    </p:spTree>
    <p:extLst>
      <p:ext uri="{BB962C8B-B14F-4D97-AF65-F5344CB8AC3E}">
        <p14:creationId xmlns:p14="http://schemas.microsoft.com/office/powerpoint/2010/main" val="1484167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5ADAABB3-152B-7724-CCB3-5C076FF71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57B4C457-2F99-11EB-2EEB-5FFF71182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/>
              <a:t>PRESENT CONTINUOUS RULES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FBC9EC8-DD5D-B6F9-ADFC-2F0548A3D7A1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18D66928-9847-73AD-4909-A907FC210C65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9518FC56-E506-CE68-8384-21DCDE3E33FE}"/>
              </a:ext>
            </a:extLst>
          </p:cNvPr>
          <p:cNvCxnSpPr>
            <a:cxnSpLocks/>
          </p:cNvCxnSpPr>
          <p:nvPr/>
        </p:nvCxnSpPr>
        <p:spPr>
          <a:xfrm>
            <a:off x="270310" y="904773"/>
            <a:ext cx="711804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F0743B10-6D7F-BC76-7BAC-906329E79775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3;p3">
            <a:extLst>
              <a:ext uri="{FF2B5EF4-FFF2-40B4-BE49-F238E27FC236}">
                <a16:creationId xmlns:a16="http://schemas.microsoft.com/office/drawing/2014/main" id="{4B574FC3-39B9-45B0-2B46-5AFB45BEE153}"/>
              </a:ext>
            </a:extLst>
          </p:cNvPr>
          <p:cNvSpPr txBox="1"/>
          <p:nvPr/>
        </p:nvSpPr>
        <p:spPr>
          <a:xfrm>
            <a:off x="664144" y="1372933"/>
            <a:ext cx="10121766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3. When the verb is monosyllabic or disyllabic and follows the consonant + vowel + consonant (CVC) pattern, the last consonant is doubled.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To swim – swimming;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To travel – travelling;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To run – running;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n-US"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Exceptions: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When the last consonant is w or x,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it is not doubled.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To snow – snowing;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To fix – fixing;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When the stressed syllable is the first, it is not doubled.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To open – opening;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To happen – happening;</a:t>
            </a:r>
          </a:p>
        </p:txBody>
      </p:sp>
    </p:spTree>
    <p:extLst>
      <p:ext uri="{BB962C8B-B14F-4D97-AF65-F5344CB8AC3E}">
        <p14:creationId xmlns:p14="http://schemas.microsoft.com/office/powerpoint/2010/main" val="3254041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9FB32CED-3ECE-C98D-8D46-22822A2EB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D3993243-4EE0-11FA-FF77-09BF2D0F76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/>
              <a:t>PRESENT CONTINUOUS STRUCTURE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F11843D-D26E-2EC5-98BF-ACC0F3C16D6C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048766F0-087D-67D5-94D9-E2D8F7921BA6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7E13128A-2CFC-9AF7-F369-78E49ACD7887}"/>
              </a:ext>
            </a:extLst>
          </p:cNvPr>
          <p:cNvCxnSpPr>
            <a:cxnSpLocks/>
          </p:cNvCxnSpPr>
          <p:nvPr/>
        </p:nvCxnSpPr>
        <p:spPr>
          <a:xfrm>
            <a:off x="270310" y="904773"/>
            <a:ext cx="832505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E4F054CF-D758-29EE-9656-1D90E181A847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D94E7F1C-BB1F-64BD-236D-348A30D5F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986363"/>
              </p:ext>
            </p:extLst>
          </p:nvPr>
        </p:nvGraphicFramePr>
        <p:xfrm>
          <a:off x="813817" y="1678982"/>
          <a:ext cx="9525000" cy="3500035"/>
        </p:xfrm>
        <a:graphic>
          <a:graphicData uri="http://schemas.openxmlformats.org/drawingml/2006/table">
            <a:tbl>
              <a:tblPr/>
              <a:tblGrid>
                <a:gridCol w="3175000">
                  <a:extLst>
                    <a:ext uri="{9D8B030D-6E8A-4147-A177-3AD203B41FA5}">
                      <a16:colId xmlns:a16="http://schemas.microsoft.com/office/drawing/2014/main" val="3605172985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3228086018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126906436"/>
                    </a:ext>
                  </a:extLst>
                </a:gridCol>
              </a:tblGrid>
              <a:tr h="50000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1" i="1" dirty="0" err="1">
                          <a:solidFill>
                            <a:srgbClr val="404040"/>
                          </a:solidFill>
                          <a:effectLst/>
                        </a:rPr>
                        <a:t>Affirmative</a:t>
                      </a:r>
                      <a:r>
                        <a:rPr lang="pt-BR" sz="1800" b="1" i="1" dirty="0">
                          <a:solidFill>
                            <a:srgbClr val="404040"/>
                          </a:solidFill>
                          <a:effectLst/>
                        </a:rPr>
                        <a:t> </a:t>
                      </a:r>
                      <a:r>
                        <a:rPr lang="pt-BR" sz="1800" b="1" i="1" dirty="0" err="1">
                          <a:solidFill>
                            <a:srgbClr val="404040"/>
                          </a:solidFill>
                          <a:effectLst/>
                        </a:rPr>
                        <a:t>Form</a:t>
                      </a:r>
                      <a:endParaRPr lang="pt-BR" sz="1800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0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1" i="1">
                          <a:solidFill>
                            <a:srgbClr val="404040"/>
                          </a:solidFill>
                          <a:effectLst/>
                        </a:rPr>
                        <a:t>Negative Form</a:t>
                      </a:r>
                      <a:endParaRPr lang="pt-BR" sz="1800" b="1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0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1" i="1" dirty="0" err="1">
                          <a:solidFill>
                            <a:srgbClr val="404040"/>
                          </a:solidFill>
                          <a:effectLst/>
                        </a:rPr>
                        <a:t>Interrogative</a:t>
                      </a:r>
                      <a:r>
                        <a:rPr lang="pt-BR" sz="1800" b="1" i="1" dirty="0">
                          <a:solidFill>
                            <a:srgbClr val="404040"/>
                          </a:solidFill>
                          <a:effectLst/>
                        </a:rPr>
                        <a:t> </a:t>
                      </a:r>
                      <a:r>
                        <a:rPr lang="pt-BR" sz="1800" b="1" i="1" dirty="0" err="1">
                          <a:solidFill>
                            <a:srgbClr val="404040"/>
                          </a:solidFill>
                          <a:effectLst/>
                        </a:rPr>
                        <a:t>Form</a:t>
                      </a:r>
                      <a:endParaRPr lang="pt-BR" sz="1800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938153"/>
                  </a:ext>
                </a:extLst>
              </a:tr>
              <a:tr h="500005">
                <a:tc>
                  <a:txBody>
                    <a:bodyPr/>
                    <a:lstStyle/>
                    <a:p>
                      <a:r>
                        <a:rPr lang="pt-BR" sz="1800" i="1">
                          <a:effectLst/>
                        </a:rPr>
                        <a:t>I am loving</a:t>
                      </a:r>
                      <a:endParaRPr lang="pt-BR" sz="1800"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i="1">
                          <a:effectLst/>
                        </a:rPr>
                        <a:t>I am not loving</a:t>
                      </a:r>
                      <a:endParaRPr lang="pt-BR" sz="1800"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i="1">
                          <a:effectLst/>
                        </a:rPr>
                        <a:t>Am I loving?</a:t>
                      </a:r>
                      <a:endParaRPr lang="pt-BR" sz="1800"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258788"/>
                  </a:ext>
                </a:extLst>
              </a:tr>
              <a:tr h="500005">
                <a:tc>
                  <a:txBody>
                    <a:bodyPr/>
                    <a:lstStyle/>
                    <a:p>
                      <a:r>
                        <a:rPr lang="pt-BR" sz="1800" i="1">
                          <a:effectLst/>
                        </a:rPr>
                        <a:t>You are loving</a:t>
                      </a:r>
                      <a:endParaRPr lang="pt-BR" sz="1800"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i="1">
                          <a:effectLst/>
                        </a:rPr>
                        <a:t>You are not loving</a:t>
                      </a:r>
                      <a:endParaRPr lang="pt-BR" sz="1800"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i="1">
                          <a:effectLst/>
                        </a:rPr>
                        <a:t>Are you loving?</a:t>
                      </a:r>
                      <a:endParaRPr lang="pt-BR" sz="1800"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503394"/>
                  </a:ext>
                </a:extLst>
              </a:tr>
              <a:tr h="500005">
                <a:tc>
                  <a:txBody>
                    <a:bodyPr/>
                    <a:lstStyle/>
                    <a:p>
                      <a:r>
                        <a:rPr lang="en-US" sz="1800" i="1">
                          <a:effectLst/>
                        </a:rPr>
                        <a:t>He/she/it is loving</a:t>
                      </a:r>
                      <a:endParaRPr lang="en-US" sz="1800"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>
                          <a:effectLst/>
                        </a:rPr>
                        <a:t>He/she/it is not loving</a:t>
                      </a:r>
                      <a:endParaRPr lang="en-US" sz="1800"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i="1">
                          <a:effectLst/>
                        </a:rPr>
                        <a:t>Is he/she/it loving?</a:t>
                      </a:r>
                      <a:endParaRPr lang="en-US" sz="1800"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08086"/>
                  </a:ext>
                </a:extLst>
              </a:tr>
              <a:tr h="500005">
                <a:tc>
                  <a:txBody>
                    <a:bodyPr/>
                    <a:lstStyle/>
                    <a:p>
                      <a:r>
                        <a:rPr lang="pt-BR" sz="1800" i="1">
                          <a:effectLst/>
                        </a:rPr>
                        <a:t>We are loving</a:t>
                      </a:r>
                      <a:endParaRPr lang="pt-BR" sz="1800"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i="1">
                          <a:effectLst/>
                        </a:rPr>
                        <a:t>We are not loving</a:t>
                      </a:r>
                      <a:endParaRPr lang="pt-BR" sz="1800"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i="1">
                          <a:effectLst/>
                        </a:rPr>
                        <a:t>Are we loving?</a:t>
                      </a:r>
                      <a:endParaRPr lang="pt-BR" sz="1800"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690243"/>
                  </a:ext>
                </a:extLst>
              </a:tr>
              <a:tr h="500005">
                <a:tc>
                  <a:txBody>
                    <a:bodyPr/>
                    <a:lstStyle/>
                    <a:p>
                      <a:r>
                        <a:rPr lang="pt-BR" sz="1800" i="1">
                          <a:effectLst/>
                        </a:rPr>
                        <a:t>You are loving</a:t>
                      </a:r>
                      <a:endParaRPr lang="pt-BR" sz="1800"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i="1">
                          <a:effectLst/>
                        </a:rPr>
                        <a:t>You are not loving</a:t>
                      </a:r>
                      <a:endParaRPr lang="pt-BR" sz="1800"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i="1">
                          <a:effectLst/>
                        </a:rPr>
                        <a:t>Are you loving?</a:t>
                      </a:r>
                      <a:endParaRPr lang="pt-BR" sz="1800"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135264"/>
                  </a:ext>
                </a:extLst>
              </a:tr>
              <a:tr h="500005">
                <a:tc>
                  <a:txBody>
                    <a:bodyPr/>
                    <a:lstStyle/>
                    <a:p>
                      <a:r>
                        <a:rPr lang="pt-BR" sz="1800" i="1" dirty="0">
                          <a:effectLst/>
                        </a:rPr>
                        <a:t>They are </a:t>
                      </a:r>
                      <a:r>
                        <a:rPr lang="pt-BR" sz="1800" i="1" dirty="0" err="1">
                          <a:effectLst/>
                        </a:rPr>
                        <a:t>loving</a:t>
                      </a:r>
                      <a:endParaRPr lang="pt-BR" sz="1800" dirty="0"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i="1" dirty="0">
                          <a:effectLst/>
                        </a:rPr>
                        <a:t>They are </a:t>
                      </a:r>
                      <a:r>
                        <a:rPr lang="pt-BR" sz="1800" i="1" dirty="0" err="1">
                          <a:effectLst/>
                        </a:rPr>
                        <a:t>not</a:t>
                      </a:r>
                      <a:r>
                        <a:rPr lang="pt-BR" sz="1800" i="1" dirty="0">
                          <a:effectLst/>
                        </a:rPr>
                        <a:t> </a:t>
                      </a:r>
                      <a:r>
                        <a:rPr lang="pt-BR" sz="1800" i="1" dirty="0" err="1">
                          <a:effectLst/>
                        </a:rPr>
                        <a:t>loving</a:t>
                      </a:r>
                      <a:endParaRPr lang="pt-BR" sz="1800" dirty="0"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i="1" dirty="0">
                          <a:effectLst/>
                        </a:rPr>
                        <a:t>Are </a:t>
                      </a:r>
                      <a:r>
                        <a:rPr lang="pt-BR" sz="1800" i="1" dirty="0" err="1">
                          <a:effectLst/>
                        </a:rPr>
                        <a:t>they</a:t>
                      </a:r>
                      <a:r>
                        <a:rPr lang="pt-BR" sz="1800" i="1" dirty="0">
                          <a:effectLst/>
                        </a:rPr>
                        <a:t> </a:t>
                      </a:r>
                      <a:r>
                        <a:rPr lang="pt-BR" sz="1800" i="1" dirty="0" err="1">
                          <a:effectLst/>
                        </a:rPr>
                        <a:t>loving</a:t>
                      </a:r>
                      <a:r>
                        <a:rPr lang="pt-BR" sz="1800" i="1" dirty="0">
                          <a:effectLst/>
                        </a:rPr>
                        <a:t>?</a:t>
                      </a:r>
                      <a:endParaRPr lang="pt-BR" sz="1800" dirty="0">
                        <a:effectLst/>
                      </a:endParaRPr>
                    </a:p>
                  </a:txBody>
                  <a:tcPr marL="53340" marR="53340" marT="38100" marB="38100" anchor="ctr">
                    <a:lnL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622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412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F7457C2E-C02F-74BB-B7A4-35827C7B6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0905D826-1812-F410-20F0-F92845EC48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/>
              <a:t>EXERCISE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EDE0E66-91BE-86ED-0AE6-68773F0283BE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2AC7108-4C37-BA6C-5960-98DD87287D73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9938CF17-A0D0-8AB3-BF6F-79F94A42CF29}"/>
              </a:ext>
            </a:extLst>
          </p:cNvPr>
          <p:cNvCxnSpPr/>
          <p:nvPr/>
        </p:nvCxnSpPr>
        <p:spPr>
          <a:xfrm>
            <a:off x="270310" y="904773"/>
            <a:ext cx="432094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E746254C-253F-F526-C4EE-D9B46550ECC0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3;p3">
            <a:extLst>
              <a:ext uri="{FF2B5EF4-FFF2-40B4-BE49-F238E27FC236}">
                <a16:creationId xmlns:a16="http://schemas.microsoft.com/office/drawing/2014/main" id="{33CD8766-FBA6-ADAE-70A3-C9A2F120888C}"/>
              </a:ext>
            </a:extLst>
          </p:cNvPr>
          <p:cNvSpPr txBox="1"/>
          <p:nvPr/>
        </p:nvSpPr>
        <p:spPr>
          <a:xfrm>
            <a:off x="710986" y="1372933"/>
            <a:ext cx="7760528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Complete the sentences with the correct verb tense: Present Simple or Present Continuous: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ui-sans-serif"/>
              </a:rPr>
              <a:t> Look! It ___ (rain) outside.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ui-sans-serif"/>
              </a:rPr>
              <a:t> I usually ___ (go) to the gym in the morning.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ui-sans-serif"/>
              </a:rPr>
              <a:t> My parents ___ (travel) to Spain right now.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ui-sans-serif"/>
              </a:rPr>
              <a:t> She ___ (not eat) meat — she’s vegetarian.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ui-sans-serif"/>
              </a:rPr>
              <a:t> We ___ (study) for our test at the moment.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ui-sans-serif"/>
              </a:rPr>
              <a:t> John ___ (not work) today because he’s sick.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ui-sans-serif"/>
              </a:rPr>
              <a:t> ___ you ___ (like) chocolate?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ui-sans-serif"/>
              </a:rPr>
              <a:t> What ___ she ___ (do) right now?</a:t>
            </a:r>
          </a:p>
        </p:txBody>
      </p:sp>
    </p:spTree>
    <p:extLst>
      <p:ext uri="{BB962C8B-B14F-4D97-AF65-F5344CB8AC3E}">
        <p14:creationId xmlns:p14="http://schemas.microsoft.com/office/powerpoint/2010/main" val="2395343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DA79EA4C-7A8A-A0B6-01DF-00BC512E2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FA2DD948-B374-15D5-05E3-2B860F18214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806510" y="117973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 dirty="0"/>
              <a:t>LINGUESC</a:t>
            </a:r>
            <a:endParaRPr dirty="0"/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DDF71BC4-93E3-E4D7-1E15-3C00A63CF69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836071" y="3636744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/>
              <a:t>BÁSICO II A – AULA 01</a:t>
            </a:r>
            <a:endParaRPr dirty="0"/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2062B534-0547-981F-9316-C8E087A6EE5F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1">
            <a:extLst>
              <a:ext uri="{FF2B5EF4-FFF2-40B4-BE49-F238E27FC236}">
                <a16:creationId xmlns:a16="http://schemas.microsoft.com/office/drawing/2014/main" id="{E94DA446-CC28-680B-3A9B-94A558F48771}"/>
              </a:ext>
            </a:extLst>
          </p:cNvPr>
          <p:cNvCxnSpPr/>
          <p:nvPr/>
        </p:nvCxnSpPr>
        <p:spPr>
          <a:xfrm>
            <a:off x="1953929" y="3602038"/>
            <a:ext cx="356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C529D3F8-AC2E-AC5E-6DA8-61AD611D159E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">
            <a:extLst>
              <a:ext uri="{FF2B5EF4-FFF2-40B4-BE49-F238E27FC236}">
                <a16:creationId xmlns:a16="http://schemas.microsoft.com/office/drawing/2014/main" id="{F72F9294-26E8-BB2E-34A9-963DEC89E67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8492" y="1571912"/>
            <a:ext cx="2686425" cy="2753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>
            <a:extLst>
              <a:ext uri="{FF2B5EF4-FFF2-40B4-BE49-F238E27FC236}">
                <a16:creationId xmlns:a16="http://schemas.microsoft.com/office/drawing/2014/main" id="{3CECBD72-1B03-C8A5-0CBA-7CB701DC40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4813"/>
            <a:ext cx="2811774" cy="4881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84565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BF6DCE98EB7D04EB7A1353A634F2BAD" ma:contentTypeVersion="1" ma:contentTypeDescription="Crie um novo documento." ma:contentTypeScope="" ma:versionID="5fdf910c74c196e1550aaa3fcb850572">
  <xsd:schema xmlns:xsd="http://www.w3.org/2001/XMLSchema" xmlns:xs="http://www.w3.org/2001/XMLSchema" xmlns:p="http://schemas.microsoft.com/office/2006/metadata/properties" xmlns:ns3="406f4d40-1b8d-41bc-af64-f5da6570ab7c" targetNamespace="http://schemas.microsoft.com/office/2006/metadata/properties" ma:root="true" ma:fieldsID="299f014bff3cc127d56b083150e04118" ns3:_="">
    <xsd:import namespace="406f4d40-1b8d-41bc-af64-f5da6570ab7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6f4d40-1b8d-41bc-af64-f5da6570ab7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B21796-9ECC-4FCA-AE93-DDFB86098078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06f4d40-1b8d-41bc-af64-f5da6570ab7c"/>
  </ds:schemaRefs>
</ds:datastoreItem>
</file>

<file path=customXml/itemProps2.xml><?xml version="1.0" encoding="utf-8"?>
<ds:datastoreItem xmlns:ds="http://schemas.openxmlformats.org/officeDocument/2006/customXml" ds:itemID="{D5A25691-BEDB-474A-83C3-3DFC0AE46ADE}">
  <ds:schemaRefs>
    <ds:schemaRef ds:uri="http://schemas.microsoft.com/office/2006/metadata/properties"/>
    <ds:schemaRef ds:uri="http://www.w3.org/2000/xmlns/"/>
  </ds:schemaRefs>
</ds:datastoreItem>
</file>

<file path=customXml/itemProps3.xml><?xml version="1.0" encoding="utf-8"?>
<ds:datastoreItem xmlns:ds="http://schemas.openxmlformats.org/officeDocument/2006/customXml" ds:itemID="{0B9D035D-C4CD-46FF-8E9C-AE94D43E810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5b6e4a8-c58e-4e8a-97a9-a7f56415a11d}" enabled="0" method="" siteId="{a5b6e4a8-c58e-4e8a-97a9-a7f56415a11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928</Words>
  <Application>Microsoft Office PowerPoint</Application>
  <PresentationFormat>Widescreen</PresentationFormat>
  <Paragraphs>149</Paragraphs>
  <Slides>14</Slides>
  <Notes>14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Tema do Office</vt:lpstr>
      <vt:lpstr>LINGUESC</vt:lpstr>
      <vt:lpstr>CRONOGRAMA</vt:lpstr>
      <vt:lpstr>Present Simple and Continuous</vt:lpstr>
      <vt:lpstr>PRESENT SIMPLE</vt:lpstr>
      <vt:lpstr>PRESENT SIMPLE</vt:lpstr>
      <vt:lpstr>PRESENT SIMPLE STRUCTURE</vt:lpstr>
      <vt:lpstr>QUESTION WORDS</vt:lpstr>
      <vt:lpstr>EXERCISE</vt:lpstr>
      <vt:lpstr>PRESENT CONTINUOUS</vt:lpstr>
      <vt:lpstr>PRESENT CONTINUOUS RULES</vt:lpstr>
      <vt:lpstr>PRESENT CONTINUOUS RULES</vt:lpstr>
      <vt:lpstr>PRESENT CONTINUOUS STRUCTURE</vt:lpstr>
      <vt:lpstr>EXERCISE</vt:lpstr>
      <vt:lpstr>LINGUESC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LINGUESC</dc:title>
  <dc:creator>admin</dc:creator>
  <cp:lastModifiedBy>Vandré Luiz</cp:lastModifiedBy>
  <cp:revision>4</cp:revision>
  <dcterms:created xsi:type="dcterms:W3CDTF">2024-03-21T12:03:16Z</dcterms:created>
  <dcterms:modified xsi:type="dcterms:W3CDTF">2025-04-25T14:04:32Z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0x0101006BF6DCE98EB7D04EB7A1353A634F2BAD</vt:lpwstr>
  </property>
</Properties>
</file>