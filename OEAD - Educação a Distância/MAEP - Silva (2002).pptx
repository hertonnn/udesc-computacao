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985" y="4126110"/>
            <a:ext cx="4708028" cy="466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0348" y="2265015"/>
            <a:ext cx="10431303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FFFFF"/>
                </a:solidFill>
                <a:latin typeface="Montserrat"/>
              </a:rPr>
              <a:t>Informática na Educação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8712" y="3284190"/>
            <a:ext cx="993457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00D4B2"/>
                </a:solidFill>
                <a:latin typeface="Inter Medium"/>
              </a:rPr>
              <a:t>MAEP (Silva, 2002) e a Avaliação de Softwares Educativos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1985" y="4373760"/>
            <a:ext cx="56108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CBD5E1"/>
                </a:solidFill>
                <a:latin typeface="Times New Roman"/>
              </a:rPr>
              <a:t>Aluno: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3736" y="4373760"/>
            <a:ext cx="927496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CBD5E1"/>
                </a:solidFill>
                <a:latin typeface="Times New Roman"/>
              </a:rPr>
              <a:t>Professora: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707927"/>
            <a:ext cx="952500" cy="47625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05663" y="3041302"/>
            <a:ext cx="5380672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500" i="0" u="none">
                <a:solidFill>
                  <a:srgbClr val="0A2540"/>
                </a:solidFill>
                <a:latin typeface="Montserrat"/>
              </a:rPr>
              <a:t>O que é o MAEP?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7575" y="3927127"/>
            <a:ext cx="52768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0A2540"/>
                </a:solidFill>
                <a:latin typeface="Inter Medium"/>
              </a:rPr>
              <a:t>Método Ergopedagógico Interativo de Avaliação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850" y="225266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25466"/>
                </a:solidFill>
                <a:latin typeface="Inter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625" y="2252662"/>
            <a:ext cx="5048250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25466"/>
                </a:solidFill>
                <a:latin typeface="Inter"/>
              </a:rPr>
              <a:t>Desenvolvido por Marcos da Silva em 2002 para o contexto da Informática na Educação.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305276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25466"/>
                </a:solidFill>
                <a:latin typeface="Inter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052762"/>
            <a:ext cx="5048250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25466"/>
                </a:solidFill>
                <a:latin typeface="Inter"/>
              </a:rPr>
              <a:t>Focado na avaliação sistêmica de </a:t>
            </a:r>
            <a:r>
              <a:rPr b="1" sz="1500" i="0" u="none">
                <a:solidFill>
                  <a:srgbClr val="425466"/>
                </a:solidFill>
                <a:latin typeface="Inter"/>
              </a:rPr>
              <a:t>Produtos Educacionais Informatizados (PEIs)</a:t>
            </a:r>
            <a:r>
              <a:rPr b="0" sz="1500" i="0" u="none">
                <a:solidFill>
                  <a:srgbClr val="425466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385286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25466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852862"/>
            <a:ext cx="5048250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25466"/>
                </a:solidFill>
                <a:latin typeface="Inter"/>
              </a:rPr>
              <a:t>Sua essência é unir a usabilidade técnica (ergonomia) aos objetivos reais de aprendizagem.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465296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25466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652962"/>
            <a:ext cx="5048250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25466"/>
                </a:solidFill>
                <a:latin typeface="Inter"/>
              </a:rPr>
              <a:t>Garante que o software transcenda a funcionalidade, tornando-se uma ferramenta efetivamente educativa.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3112"/>
            <a:ext cx="5286375" cy="3619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A2540"/>
                </a:solidFill>
                <a:latin typeface="Montserrat"/>
              </a:rPr>
              <a:t>Introdução ao MAEP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5962"/>
            <a:ext cx="3429000" cy="3733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985962"/>
            <a:ext cx="3429000" cy="3733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985962"/>
            <a:ext cx="3429000" cy="3733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5891" y="3167062"/>
            <a:ext cx="174021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250" i="0" u="none">
                <a:solidFill>
                  <a:srgbClr val="FFFFFF"/>
                </a:solidFill>
                <a:latin typeface="Montserrat"/>
              </a:rPr>
              <a:t>Ergonomia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662362"/>
            <a:ext cx="28384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Avalia a interface, a facilidade de navegação e a adequação da carga cognitiva exigida do usuário durante o uso do sistema.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40893" y="3167062"/>
            <a:ext cx="1710213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250" i="0" u="none">
                <a:solidFill>
                  <a:srgbClr val="FFFFFF"/>
                </a:solidFill>
                <a:latin typeface="Montserrat"/>
              </a:rPr>
              <a:t>Pedagogia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662362"/>
            <a:ext cx="28384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Verifica a qualidade do conteúdo, a adequação aos métodos de ensino e a coerência das estratégias didáticas adotadas.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864" y="3167062"/>
            <a:ext cx="2170271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250" i="0" u="none">
                <a:solidFill>
                  <a:srgbClr val="FFFFFF"/>
                </a:solidFill>
                <a:latin typeface="Montserrat"/>
              </a:rPr>
              <a:t>Comunicação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662362"/>
            <a:ext cx="28384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Mede a eficácia dos feedbacks, o nível de interatividade, e a clareza da linguagem visual na troca de informações.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2395537"/>
            <a:ext cx="53340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395537"/>
            <a:ext cx="53340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962" y="2395537"/>
            <a:ext cx="600075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FFFFF"/>
                </a:solidFill>
                <a:latin typeface="Montserrat"/>
              </a:rPr>
              <a:t>Pilares da Avaliação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707927"/>
            <a:ext cx="952500" cy="47625"/>
          </a:xfrm>
          <a:prstGeom prst="rect">
            <a:avLst/>
          </a:prstGeom>
          <a:solidFill>
            <a:srgbClr val="00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00600" y="3041302"/>
            <a:ext cx="6390798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500" i="0" u="none">
                <a:solidFill>
                  <a:srgbClr val="0A2540"/>
                </a:solidFill>
                <a:latin typeface="Montserrat"/>
              </a:rPr>
              <a:t>Categorias do MAEP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1825" y="3927127"/>
            <a:ext cx="58483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0A2540"/>
                </a:solidFill>
                <a:latin typeface="Inter Medium"/>
              </a:rPr>
              <a:t>Dispositivo, Processo e Validade Político-Pedagógica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FFFFF"/>
                </a:solidFill>
                <a:latin typeface="Montserrat"/>
              </a:rPr>
              <a:t>Dispositivo de Formação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571750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Analisa como o sistema atua como um espaço educacional de interação formadora.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324225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Avalia a presença de ferramentas de apoio à aprendizagem e a forte coerência entre a interface digital e o público-alvo.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381500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Mede a capacidade do software em realizar a mediação efetiva do conhecimento.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9787"/>
            <a:ext cx="5286375" cy="3486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109787"/>
            <a:ext cx="5286375" cy="3486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595562"/>
            <a:ext cx="4730591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0D4B2"/>
                </a:solidFill>
                <a:latin typeface="Montserrat"/>
              </a:rPr>
              <a:t>Sistema e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138487"/>
            <a:ext cx="450532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25466"/>
                </a:solidFill>
                <a:latin typeface="Inter"/>
              </a:rPr>
              <a:t>O software deve gerenciar os erros de forma inteligente, oferecendo orientação clara para correção. O monitoramento contínuo das ações permite que a interface e as atividades se adaptem dinamicamente ao ritmo e necessidades de cada aluno.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595562"/>
            <a:ext cx="4730591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0D4B2"/>
                </a:solidFill>
                <a:latin typeface="Montserrat"/>
              </a:rPr>
              <a:t>Autonomia 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3138487"/>
            <a:ext cx="450532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25466"/>
                </a:solidFill>
                <a:latin typeface="Inter"/>
              </a:rPr>
              <a:t>É fundamental garantir ao estudante o controle explícito sobre sua própria navegação. Simultaneamente, o sistema deve fornecer ao educador relatórios consolidados e detalhados para possibilitar intervenções pedagógicas precisas.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A2540"/>
                </a:solidFill>
                <a:latin typeface="Montserrat"/>
              </a:rPr>
              <a:t>Controle e Gestão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87" y="1947862"/>
            <a:ext cx="3810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2324100"/>
            <a:ext cx="5550693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0D4B2"/>
                </a:solidFill>
                <a:latin typeface="Montserrat"/>
              </a:rPr>
              <a:t>Além da Usabilidade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819400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Esta categoria transcende a funcionalidade básica do software para questionar seu papel social e educacional.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571875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Ela avalia se o ambiente virtual promove a inclusão genuína, se respeita a diversidade e se contribui na formação de cidadãos críticos.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4629150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O produto deve ter alinhamento ético com as diretrizes curriculares e adotar uma visão emancipatória.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687" y="1947862"/>
            <a:ext cx="3810000" cy="381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FFFFF"/>
                </a:solidFill>
                <a:latin typeface="Montserrat"/>
              </a:rPr>
              <a:t>Validade Político-Pedagógica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881312"/>
            <a:ext cx="528637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b="1" sz="12000" i="0" u="none">
                <a:solidFill>
                  <a:srgbClr val="00D4B2"/>
                </a:solidFill>
                <a:latin typeface="Montserrat"/>
              </a:rPr>
              <a:t>360°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500562"/>
            <a:ext cx="52863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0A2540"/>
                </a:solidFill>
                <a:latin typeface="Inter SemiBold"/>
              </a:rPr>
              <a:t>Visão Integrada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395537"/>
            <a:ext cx="5550693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0D4B2"/>
                </a:solidFill>
                <a:latin typeface="Montserrat"/>
              </a:rPr>
              <a:t>Por que aplicar o MAEP?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890837"/>
            <a:ext cx="528637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25466"/>
                </a:solidFill>
                <a:latin typeface="Inter"/>
              </a:rPr>
              <a:t>Uma avaliação holística que une a precisão tecnológica da interface com o propósito pedagógico e político reduz drasticamente a evasão em cursos mediados por tecnologia.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4252912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25466"/>
                </a:solidFill>
                <a:latin typeface="Inter"/>
              </a:rPr>
              <a:t>O resultado final é a maximização do engajamento estudantil e a garantia de um processo de aprendizado que é efetivo e verdadeiramente transformador.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A2540"/>
                </a:solidFill>
                <a:latin typeface="Montserrat"/>
              </a:rPr>
              <a:t>O Impacto da Avaliação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833812"/>
            <a:ext cx="110490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7968" y="4186237"/>
            <a:ext cx="26683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D4B2"/>
                </a:solidFill>
                <a:latin typeface="Inter"/>
              </a:rPr>
              <a:t>1. Concepção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605337"/>
            <a:ext cx="254124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Definição de metas pedagógicas e estruturação do projeto educacional.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3888" y="2043112"/>
            <a:ext cx="26683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D4B2"/>
                </a:solidFill>
                <a:latin typeface="Inter"/>
              </a:rPr>
              <a:t>2.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7419" y="2462212"/>
            <a:ext cx="2541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Estruturação e validação prévia do dispositivo de formação.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808" y="4186237"/>
            <a:ext cx="26683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D4B2"/>
                </a:solidFill>
                <a:latin typeface="Inter"/>
              </a:rPr>
              <a:t>3. Testes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339" y="4605337"/>
            <a:ext cx="254124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Validação rigorosa do controle, navegação e gestão de erros (ergonomia).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5728" y="1738312"/>
            <a:ext cx="26683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D4B2"/>
                </a:solidFill>
                <a:latin typeface="Inter"/>
              </a:rPr>
              <a:t>4. Uso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9259" y="2157412"/>
            <a:ext cx="254124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Análise somativa e comprovação da validade político-pedagógica com turmas.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27820" y="37385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38100">
            <a:solidFill>
              <a:srgbClr val="00D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63740" y="37385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38100">
            <a:solidFill>
              <a:srgbClr val="00D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99659" y="37385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38100">
            <a:solidFill>
              <a:srgbClr val="00D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35579" y="37385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 w="38100">
            <a:solidFill>
              <a:srgbClr val="00D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FFFFF"/>
                </a:solidFill>
                <a:latin typeface="Montserrat"/>
              </a:rPr>
              <a:t>Quando Aplicar o MAEP?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6425" y="2365176"/>
            <a:ext cx="8439150" cy="2346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b="0" sz="3300" i="0" u="none">
                <a:solidFill>
                  <a:srgbClr val="0A2540"/>
                </a:solidFill>
                <a:latin typeface="Montserrat SemiBold"/>
              </a:rPr>
              <a:t>A tecnologia educativa atinge seu pleno potencial quando a interface digital e o propósito pedagógico dialogam em absoluta harmonia.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89052" y="5092898"/>
            <a:ext cx="401389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1" u="none">
                <a:solidFill>
                  <a:srgbClr val="425466"/>
                </a:solidFill>
                <a:latin typeface="Times New Roman Medium"/>
              </a:rPr>
              <a:t>— Princípio base da avaliação ergopedagógica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9675" y="2746176"/>
            <a:ext cx="476250" cy="1390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0" sz="9000" i="0" u="none">
                <a:solidFill>
                  <a:srgbClr val="00D4B2"/>
                </a:solidFill>
                <a:latin typeface="Montserrat SemiBold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6075" y="4616648"/>
            <a:ext cx="476250" cy="1390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0" sz="9000" i="0" u="none">
                <a:solidFill>
                  <a:srgbClr val="00D4B2"/>
                </a:solidFill>
                <a:latin typeface="Montserrat SemiBold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A2540"/>
                </a:solidFill>
                <a:latin typeface="Montserrat"/>
              </a:rPr>
              <a:t>Síntese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97548"/>
            <a:ext cx="11049000" cy="419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241202"/>
            <a:ext cx="116014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FFFFF"/>
                </a:solidFill>
                <a:latin typeface="Montserrat"/>
              </a:rPr>
              <a:t>Dúvidas?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55627"/>
            <a:ext cx="11049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00D4B2"/>
                </a:solidFill>
                <a:latin typeface="Inter Medium"/>
              </a:rPr>
              <a:t>Obrigado pela atenção!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581423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366194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3566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3566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1414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1414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30847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6875" y="2724298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000000"/>
                </a:solidFill>
                <a:latin typeface="Inter"/>
              </a:rPr>
              <a:t>https://www.teachersflow.com/blog-cover/from-photo-to-ai-feedback-generation-turn-test-images-into-instant-feedback-and-reflection-questions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2970014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www.teachersflow.com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15617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6875" y="3509069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000000"/>
                </a:solidFill>
                <a:latin typeface="Inter"/>
              </a:rPr>
              <a:t>https://www.justinmind.com/wp-content/uploads/2018/12/6-best-practices-for-Dashboard-Design-Justinmind-header.png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3754784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www.justinmind.com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99508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4293840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000000"/>
                </a:solidFill>
                <a:latin typeface="Inter"/>
              </a:rPr>
              <a:t>https://media.istockphoto.com/id/2227837053/photo/happy-smiling-teens-students-studying-in-group.jpg?s=612x612&amp;w=0&amp;k=20&amp;c=0gTuTF6RgwDCvD7yDmVoci3ozyozh-CjyCXxfYZZNYM=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4737645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0000"/>
                </a:solidFill>
                <a:latin typeface="Montserra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