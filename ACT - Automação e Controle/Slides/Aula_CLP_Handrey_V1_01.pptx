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257" r:id="rId3"/>
    <p:sldId id="258" r:id="rId4"/>
    <p:sldId id="303" r:id="rId5"/>
    <p:sldId id="304" r:id="rId6"/>
    <p:sldId id="264" r:id="rId7"/>
    <p:sldId id="259" r:id="rId8"/>
    <p:sldId id="260" r:id="rId9"/>
    <p:sldId id="261" r:id="rId10"/>
    <p:sldId id="262" r:id="rId11"/>
    <p:sldId id="263" r:id="rId12"/>
    <p:sldId id="271" r:id="rId13"/>
    <p:sldId id="265" r:id="rId14"/>
    <p:sldId id="266" r:id="rId15"/>
    <p:sldId id="267" r:id="rId16"/>
    <p:sldId id="270" r:id="rId17"/>
    <p:sldId id="275" r:id="rId18"/>
    <p:sldId id="277" r:id="rId19"/>
    <p:sldId id="305" r:id="rId20"/>
    <p:sldId id="276" r:id="rId21"/>
    <p:sldId id="308" r:id="rId22"/>
    <p:sldId id="279" r:id="rId23"/>
    <p:sldId id="280" r:id="rId24"/>
    <p:sldId id="269" r:id="rId25"/>
    <p:sldId id="272" r:id="rId26"/>
    <p:sldId id="268" r:id="rId27"/>
    <p:sldId id="274" r:id="rId28"/>
    <p:sldId id="282" r:id="rId29"/>
    <p:sldId id="283" r:id="rId30"/>
    <p:sldId id="284" r:id="rId31"/>
    <p:sldId id="285" r:id="rId32"/>
    <p:sldId id="286" r:id="rId33"/>
    <p:sldId id="281" r:id="rId34"/>
    <p:sldId id="289" r:id="rId35"/>
    <p:sldId id="311" r:id="rId36"/>
    <p:sldId id="290" r:id="rId37"/>
    <p:sldId id="291" r:id="rId38"/>
    <p:sldId id="292" r:id="rId39"/>
    <p:sldId id="309" r:id="rId40"/>
    <p:sldId id="312" r:id="rId41"/>
    <p:sldId id="313" r:id="rId42"/>
    <p:sldId id="310" r:id="rId43"/>
    <p:sldId id="314" r:id="rId44"/>
    <p:sldId id="315" r:id="rId45"/>
    <p:sldId id="316" r:id="rId46"/>
    <p:sldId id="301" r:id="rId47"/>
    <p:sldId id="302" r:id="rId48"/>
    <p:sldId id="293" r:id="rId49"/>
    <p:sldId id="294" r:id="rId50"/>
    <p:sldId id="295" r:id="rId51"/>
    <p:sldId id="306" r:id="rId52"/>
    <p:sldId id="296" r:id="rId53"/>
    <p:sldId id="307" r:id="rId54"/>
    <p:sldId id="297" r:id="rId55"/>
    <p:sldId id="298" r:id="rId56"/>
    <p:sldId id="299" r:id="rId57"/>
    <p:sldId id="300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8456" autoAdjust="0"/>
  </p:normalViewPr>
  <p:slideViewPr>
    <p:cSldViewPr snapToGrid="0">
      <p:cViewPr varScale="1">
        <p:scale>
          <a:sx n="68" d="100"/>
          <a:sy n="68" d="100"/>
        </p:scale>
        <p:origin x="1262" y="-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1E49D51-64DA-4C14-B191-1224112084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Universidade do Estado de Santa Catarina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7894732-AB36-41AA-ADDA-F73F9A27A6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pt-BR"/>
              <a:t>Junho/2017</a:t>
            </a:r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29A20D-3125-48AD-B171-68A1E995A6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A59A2BB-3313-4959-B522-66CC0F811E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30E77-BA40-40F0-9D2D-CA788724A5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1734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Universidade do Estado de Santa Catarina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pt-BR"/>
              <a:t>Junho/2017</a:t>
            </a:r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80862-3F22-481B-B2B9-5717F3A02E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49923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 err="1"/>
              <a:t>Groover</a:t>
            </a:r>
            <a:r>
              <a:rPr lang="pt-BR" dirty="0"/>
              <a:t>: </a:t>
            </a:r>
            <a:r>
              <a:rPr lang="en-US" dirty="0"/>
              <a:t>Um </a:t>
            </a:r>
            <a:r>
              <a:rPr lang="en-US" dirty="0" err="1"/>
              <a:t>microcomputador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instruções</a:t>
            </a:r>
            <a:r>
              <a:rPr lang="en-US" dirty="0"/>
              <a:t> </a:t>
            </a:r>
            <a:r>
              <a:rPr lang="en-US" dirty="0" err="1"/>
              <a:t>armazenadas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memória</a:t>
            </a:r>
            <a:r>
              <a:rPr lang="en-US" dirty="0"/>
              <a:t> </a:t>
            </a:r>
            <a:r>
              <a:rPr lang="en-US" dirty="0" err="1"/>
              <a:t>programável</a:t>
            </a:r>
            <a:r>
              <a:rPr lang="en-US" dirty="0"/>
              <a:t> para </a:t>
            </a:r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, </a:t>
            </a:r>
            <a:r>
              <a:rPr lang="en-US" dirty="0" err="1"/>
              <a:t>sequencialmen</a:t>
            </a:r>
            <a:r>
              <a:rPr lang="en-US" dirty="0"/>
              <a:t>- to, </a:t>
            </a:r>
            <a:r>
              <a:rPr lang="en-US" dirty="0" err="1"/>
              <a:t>temporização</a:t>
            </a:r>
            <a:r>
              <a:rPr lang="en-US" dirty="0"/>
              <a:t>, </a:t>
            </a:r>
            <a:r>
              <a:rPr lang="en-US" dirty="0" err="1"/>
              <a:t>contagem</a:t>
            </a:r>
            <a:r>
              <a:rPr lang="en-US" dirty="0"/>
              <a:t> e </a:t>
            </a:r>
            <a:r>
              <a:rPr lang="en-US" dirty="0" err="1"/>
              <a:t>funções</a:t>
            </a:r>
            <a:r>
              <a:rPr lang="en-US" dirty="0"/>
              <a:t> </a:t>
            </a:r>
            <a:r>
              <a:rPr lang="en-US" dirty="0" err="1"/>
              <a:t>aritméticas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de </a:t>
            </a:r>
            <a:r>
              <a:rPr lang="en-US" dirty="0" err="1"/>
              <a:t>módulos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/</a:t>
            </a:r>
            <a:r>
              <a:rPr lang="en-US" dirty="0" err="1"/>
              <a:t>saída</a:t>
            </a:r>
            <a:r>
              <a:rPr lang="en-US" dirty="0"/>
              <a:t> (E/S) </a:t>
            </a:r>
            <a:r>
              <a:rPr lang="en-US" dirty="0" err="1"/>
              <a:t>digitais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analógicos</a:t>
            </a:r>
            <a:r>
              <a:rPr lang="en-US" dirty="0"/>
              <a:t> para </a:t>
            </a:r>
            <a:r>
              <a:rPr lang="en-US" dirty="0" err="1"/>
              <a:t>controle</a:t>
            </a:r>
            <a:r>
              <a:rPr lang="en-US" dirty="0"/>
              <a:t> de </a:t>
            </a:r>
            <a:r>
              <a:rPr lang="en-US" dirty="0" err="1"/>
              <a:t>máquinas</a:t>
            </a:r>
            <a:r>
              <a:rPr lang="en-US" dirty="0"/>
              <a:t> e </a:t>
            </a:r>
            <a:r>
              <a:rPr lang="en-US" dirty="0" err="1"/>
              <a:t>processos</a:t>
            </a:r>
            <a:r>
              <a:rPr lang="en-US" dirty="0"/>
              <a:t>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1810B7BB-ADBF-42A0-AB35-191787EF14A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12302AC-9359-49DA-BCB2-F4667DA62E5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67938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relé, é um interruptor eletromecânico,</a:t>
            </a:r>
            <a:r>
              <a:rPr lang="pt-BR" baseline="0" dirty="0"/>
              <a:t> servindo para ligar e desligar dispositivos;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4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C060CD93-B4D4-4E03-A9C1-70B9D0DE741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B8465F2-B2B6-40CC-96DF-9B9668BF1C7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704313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 dirty="0"/>
              <a:t>Problema no uso de painéis de comando (lógica de relés): custo e dificuldade de mudar a lógica de controle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6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4AFC38FA-5FA1-4449-82F2-0ACF6B8CE0F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CE348B7-9B77-4375-BFDE-DDFB2D7A61C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1227426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Programação</a:t>
            </a:r>
            <a:r>
              <a:rPr lang="pt-BR" baseline="0" dirty="0"/>
              <a:t> seria em </a:t>
            </a:r>
            <a:r>
              <a:rPr lang="pt-BR" baseline="0" dirty="0" err="1"/>
              <a:t>Ladder</a:t>
            </a:r>
            <a:r>
              <a:rPr lang="pt-BR" baseline="0" dirty="0"/>
              <a:t>, largamente utilizada para controles industriais</a:t>
            </a:r>
          </a:p>
          <a:p>
            <a:r>
              <a:rPr lang="pt-BR" baseline="0" dirty="0" err="1"/>
              <a:t>Modicon</a:t>
            </a:r>
            <a:r>
              <a:rPr lang="pt-BR" baseline="0" dirty="0"/>
              <a:t> 084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7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113D26D4-0C88-4B67-AB80-AE0CBBCE3BB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08D73CB-3804-4D64-956E-E5317398314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888358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Além da </a:t>
            </a:r>
            <a:r>
              <a:rPr lang="pt-BR" dirty="0" err="1"/>
              <a:t>Modicon</a:t>
            </a:r>
            <a:r>
              <a:rPr lang="pt-BR" dirty="0"/>
              <a:t>, várias outras empresas</a:t>
            </a:r>
            <a:r>
              <a:rPr lang="pt-BR" baseline="0" dirty="0"/>
              <a:t> viram uma oportunidade comercial nas especificações da GM e desenvolveram versões de CLP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9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65554FFC-52CF-44B6-BB41-10781C5B131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DF93A82-1BB1-4933-8D04-2781BDE41F1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254180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características dos</a:t>
            </a:r>
            <a:r>
              <a:rPr lang="pt-BR" baseline="0" dirty="0"/>
              <a:t> primeiros </a:t>
            </a:r>
            <a:r>
              <a:rPr lang="pt-BR" baseline="0" dirty="0" err="1"/>
              <a:t>CLPs</a:t>
            </a:r>
            <a:r>
              <a:rPr lang="pt-BR" baseline="0" dirty="0"/>
              <a:t> eram semelhantes aos dos controles por relés.</a:t>
            </a:r>
          </a:p>
          <a:p>
            <a:r>
              <a:rPr lang="pt-BR" baseline="0" dirty="0"/>
              <a:t>Grande parte do progresso baseava-se nos avanços da área de tecnologia de microprocessadores;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10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00ADA7C9-5E73-43F1-9A21-07613B503B2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5FEFB0F-24BC-4246-94C4-884362ABE5D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145157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Atualmente, com a crescente redução no custo do CLP, observa-se o incremento de sua utilização nas indústrias em geral, independente de seu porte ou ramos de atividades.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11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3BF0A386-62C9-47E4-A36C-AFE717E6D7A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F62D7B6-196A-4D14-8049-D52AF188456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318423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 Geração: </a:t>
            </a:r>
            <a:r>
              <a:rPr lang="pt-BR" altLang="pt-BR" dirty="0"/>
              <a:t>Era necessário conhecer o hardware do equipamento, ou seja, a eletrônica do projeto do CLP.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13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E8E8D6FB-FF9A-4BC7-AF41-4D00B82D174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D7C4BE6-F644-4387-B235-A6763578898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271341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4 Geração: </a:t>
            </a:r>
            <a:r>
              <a:rPr lang="pt-BR" altLang="pt-BR" dirty="0"/>
              <a:t>Com este advento surgiu a possibilidade de testar o programa antes do mesmo ser transferido ao módulo do CLP, propriamente dito.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14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52EA4C66-36CB-41EA-878D-7CAC242E89A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A46EB62-DE59-468E-82C3-0B667AE18DC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4148990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E/S: oferece as</a:t>
            </a:r>
            <a:r>
              <a:rPr lang="pt-BR" baseline="0" dirty="0"/>
              <a:t> conexões com os equipamentos ou processos industriais a ser controlado</a:t>
            </a:r>
            <a:endParaRPr lang="pt-BR" dirty="0"/>
          </a:p>
          <a:p>
            <a:r>
              <a:rPr lang="pt-BR" dirty="0"/>
              <a:t>Processador:</a:t>
            </a:r>
            <a:r>
              <a:rPr lang="pt-BR" baseline="0" dirty="0"/>
              <a:t> executa funções lógicas por meio da manipulação das entradas do CLP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15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1718738E-13DB-45AB-A048-EC5904151EA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A9F46A0-CA08-4185-ACC6-E6B0414FA5B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002878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17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45FB0D2D-15C0-4E94-9EB6-53C186B4270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D08F331-ED01-4707-A744-EDBF6DB38EF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130570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tipo de estrutura normalmente é empregado para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CLPs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pequeno porte. 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18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8D1071F2-8088-4F93-ADDC-8B3C5A2DC6F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5FD85D34-1611-44F9-98F7-381E4E81398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980110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tipo de estrutura normalmente é empregado para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CLPs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pequeno porte. 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19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6D93200D-8A56-4B3A-BC1E-0A12DDCCF8F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865E036D-1D13-4FF9-B308-44C9F53366D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898960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Pode-se ter o processador e a memória em um único módulo com fonte separada ou então as três partes juntas em um único gabinete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20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BDF60667-BFD7-408E-9EA8-39A77594D6B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5C1DABF0-4055-4BF2-940D-A2B0F212601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760318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Considera-se cada sinal recebido pelo CLP, a partir de dispositivos ou componentes externos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27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C67D8622-4659-4C31-96AC-CB5B26BDCF2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A227656-667C-42E5-95CB-50BDC1A59CA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643650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Considera-se cada sinal produzido pelo CLP, para acionar dispositivos ou componentes do sistema de controle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30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F11A4AA9-D835-43B7-ABD1-993972F196C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6AA3F71-3D64-4BC6-BF5A-BAB24DF887D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581103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efetuar o controle de cargas num circuito de potência.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31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59960C7E-C733-430D-9E0F-33ED90A299D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FADD02B-DF94-4F23-A244-A5AEAE383BB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048016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maioria das aplicações em refrigeração, é necessário iniciar ou parar o fluxo no circuito de gás refrigerante para controlar automaticamente os fluídos no sistema. Uma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válvula solenoide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operada eletronicamente é normalmente utilizada para essa finalidade.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um tipo de controlador que tem a função de acionar um motor elétrico e ao mesmo tempo variar a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pt-B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frequência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 a tensão que é fornecida ao motor com o objetivo de controlar a sua velocidade e potência consumida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32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C3CD4F60-846C-43FF-86AB-AB64095F9C2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D74135C-4724-4537-9811-3AC1B28D385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556670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Virtude</a:t>
            </a:r>
            <a:r>
              <a:rPr lang="pt-BR" baseline="0" dirty="0"/>
              <a:t> importante: é análogo aos circuitos elétricos, sendo familiar ao pessoal do chão de fábrica, sendo de fácil aprendizagem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34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5FDA3192-7A3E-4F81-B53D-5F70A09A177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3B89106-F3A3-46D9-87ED-2A89EAE369A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022312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Fornece os meios para estruturar um programa em um conjunto de etapas separadas por transições;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Método padrão para a documentação do controle lógico e do sequenciamento em grande parte da Europa;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Linguagem ideal para processos sequenciais;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35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BAD18398-51CC-4750-89D3-868FC8B4BE7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28262F0B-64D7-44D5-B888-B61AE1A7932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599611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Utiliza um acumulador para armazenar os resultados parciais durante a execução</a:t>
            </a:r>
          </a:p>
          <a:p>
            <a:endParaRPr lang="pt-BR" dirty="0"/>
          </a:p>
          <a:p>
            <a:r>
              <a:rPr lang="pt-BR" dirty="0"/>
              <a:t>Cada</a:t>
            </a:r>
            <a:r>
              <a:rPr lang="pt-BR" baseline="0" dirty="0"/>
              <a:t> instrução deve começar em uma nova linha</a:t>
            </a:r>
          </a:p>
          <a:p>
            <a:endParaRPr lang="pt-BR" baseline="0" dirty="0"/>
          </a:p>
          <a:p>
            <a:r>
              <a:rPr lang="pt-BR" baseline="0" dirty="0"/>
              <a:t>OPERADOR – MODIFICADOR – OPERANDO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37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94839A1A-9381-4C93-AFD2-7511A0043E8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04993B7-6F7C-440C-9246-DFBAF5ADAEC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5308399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Blocos de funções podem ser programados com</a:t>
            </a:r>
            <a:r>
              <a:rPr lang="pt-BR" baseline="0" dirty="0"/>
              <a:t> diferentes linguagens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38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C940749E-F07C-4190-8160-9EF098775C6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FB1A67D-9076-46E2-86E3-ABCF4A87F67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5341346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Portabilidade: Interpretar os elementos do</a:t>
            </a:r>
            <a:r>
              <a:rPr lang="pt-BR" sz="1200" baseline="0" dirty="0"/>
              <a:t> sistema em diferentes ferramentas de software.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Configurabilidade: capacidade de configurar os dispositivos e seus componentes de software através de múltiplas ferramentas de software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/>
              <a:t>Interoperabilidade: </a:t>
            </a:r>
            <a:r>
              <a:rPr lang="pt-BR" sz="1200" b="0" dirty="0"/>
              <a:t>dispositivos</a:t>
            </a:r>
            <a:r>
              <a:rPr lang="pt-BR" sz="1200" b="0" baseline="0" dirty="0"/>
              <a:t> operam juntos para executar as funções de um sistema distribuído</a:t>
            </a:r>
            <a:endParaRPr lang="pt-BR" sz="1200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Esses requisitos são alcançados através de </a:t>
            </a:r>
            <a:r>
              <a:rPr lang="pt-BR" sz="1200" b="1" dirty="0"/>
              <a:t>blocos de funções</a:t>
            </a:r>
            <a:r>
              <a:rPr lang="pt-BR" sz="1200" b="0" dirty="0"/>
              <a:t>,</a:t>
            </a:r>
            <a:r>
              <a:rPr lang="pt-BR" sz="1200" b="0" baseline="0" dirty="0"/>
              <a:t> que é uma abstração do código e pode ser utilizado em qualquer dispositivo compatível com a norma</a:t>
            </a:r>
            <a:endParaRPr lang="pt-BR" sz="1200" dirty="0"/>
          </a:p>
          <a:p>
            <a:endParaRPr lang="pt-BR" u="none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42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0D4BF456-9D86-40AE-BBEC-7C3B7C4809E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392064E-7A5E-4ECA-974C-A189630CAC4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942021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abstração</a:t>
            </a:r>
            <a:r>
              <a:rPr lang="pt-BR" baseline="0" dirty="0"/>
              <a:t> em blocos tem como </a:t>
            </a:r>
            <a:r>
              <a:rPr lang="pt-BR" b="1" baseline="0" dirty="0"/>
              <a:t>objetivo facilitar a integração de componentes de hardware e software</a:t>
            </a:r>
            <a:r>
              <a:rPr lang="pt-BR" baseline="0" dirty="0"/>
              <a:t>, permitindo o uso destes sem conhecer a implementação</a:t>
            </a:r>
            <a:endParaRPr lang="pt-BR" dirty="0"/>
          </a:p>
          <a:p>
            <a:r>
              <a:rPr lang="pt-BR" dirty="0"/>
              <a:t>-</a:t>
            </a:r>
            <a:r>
              <a:rPr lang="pt-BR" b="1" dirty="0"/>
              <a:t>Service</a:t>
            </a:r>
            <a:r>
              <a:rPr lang="pt-BR" b="1" baseline="0" dirty="0"/>
              <a:t> Interface</a:t>
            </a:r>
            <a:r>
              <a:rPr lang="pt-BR" baseline="0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Através desse tipo de bloco é possível, por exemplo,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 sensores e estabelecer comunicação através de uma rede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bloco de funções composto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 encapsular vários blocos de funções de qualquer tipo.</a:t>
            </a:r>
            <a:r>
              <a:rPr lang="pt-BR" dirty="0"/>
              <a:t> </a:t>
            </a:r>
          </a:p>
          <a:p>
            <a:r>
              <a:rPr lang="pt-BR" dirty="0"/>
              <a:t>-Todas as definições do sistema são armazenado no formato </a:t>
            </a:r>
            <a:r>
              <a:rPr lang="pt-BR" dirty="0" err="1"/>
              <a:t>xml</a:t>
            </a:r>
            <a:r>
              <a:rPr lang="pt-BR" dirty="0"/>
              <a:t>, </a:t>
            </a:r>
            <a:r>
              <a:rPr lang="pt-BR" b="1" dirty="0"/>
              <a:t>desde a implementação dos blocos até</a:t>
            </a:r>
            <a:r>
              <a:rPr lang="pt-BR" b="1" baseline="0" dirty="0"/>
              <a:t> a configuração do sistema</a:t>
            </a:r>
            <a:endParaRPr lang="pt-BR" b="1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 norma IEC 61499 define o formato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representação dos blocos de funções, isso permite que a especificação seja independente de plataforma e que o bloco possa ser alterado em qualquer ferramenta de edição.</a:t>
            </a:r>
            <a:r>
              <a:rPr lang="pt-BR" dirty="0"/>
              <a:t>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43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F0013500-D210-43AC-8F5E-BB706EE285B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C7A7019-DF18-47E3-94FC-F2F72574503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169846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A interface de um bloco de funções é definida por um conjunto de eventos e dados, que podem ser de entrada ou saída.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cabeçalho são definidos os eventos e um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ECC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o corpo contem as declarações de variáveis e a implementação dos algoritmos. A norma IEC 61499 não define uma linguagem específica para implementação dos algoritmos, a princípio, pode-se utilizar qualquer linguagem de programação, incluindo as linguagens descritas na norma IEC 61131.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ECC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uma máquina de estados que gerencia a execução do bloco de funções.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variáveis de dados transportam informações de um bloco para outro.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variáveis de evento, declaradas no cabeçalho não devem ser conectadas as variáveis de dados do corpo.</a:t>
            </a:r>
            <a:r>
              <a:rPr lang="pt-BR" dirty="0"/>
              <a:t> </a:t>
            </a:r>
            <a:br>
              <a:rPr lang="pt-BR" dirty="0"/>
            </a:b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implementação de uma aplicação é feita através de vários blocos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funçõees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conectados entre si.</a:t>
            </a:r>
            <a:r>
              <a:rPr lang="pt-BR" dirty="0"/>
              <a:t>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44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EDB3A728-E0F5-4065-8FA8-77C40634AB0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92B1105-93FC-4A25-94AE-0230A43E98D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1280502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dirty="0" err="1"/>
              <a:t>Composite</a:t>
            </a:r>
            <a:r>
              <a:rPr lang="pt-BR" sz="1200" b="0" dirty="0"/>
              <a:t> </a:t>
            </a:r>
            <a:r>
              <a:rPr lang="pt-BR" sz="1200" b="0" dirty="0" err="1"/>
              <a:t>Function</a:t>
            </a:r>
            <a:r>
              <a:rPr lang="pt-BR" sz="1200" b="0" dirty="0"/>
              <a:t> </a:t>
            </a:r>
            <a:r>
              <a:rPr lang="pt-BR" sz="1200" b="0" dirty="0" err="1"/>
              <a:t>Block</a:t>
            </a:r>
            <a:r>
              <a:rPr lang="pt-BR" sz="1200" b="0" dirty="0"/>
              <a:t> é um tipo de bloco de funções</a:t>
            </a:r>
            <a:r>
              <a:rPr lang="pt-BR" sz="1200" b="0" baseline="0" dirty="0"/>
              <a:t> que pode agrupar uma rede de blocos de funções.</a:t>
            </a:r>
          </a:p>
          <a:p>
            <a:r>
              <a:rPr lang="pt-BR" sz="1200" b="0" baseline="0" dirty="0"/>
              <a:t>Este tipo de bloco é utilizado para abstrair uma rede de blocos, por exemplo, uma aplicação pode ser encapsulada dentro de </a:t>
            </a:r>
            <a:r>
              <a:rPr lang="pt-BR" sz="1200" b="0" baseline="0"/>
              <a:t>um bloco</a:t>
            </a:r>
            <a:endParaRPr lang="pt-BR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45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DBBB9B41-4CA9-4695-99D9-6E80559311F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92C86AB-7F56-421A-9EBA-CD7E0995C5E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4140561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</a:t>
            </a:r>
            <a:r>
              <a:rPr lang="pt-BR" dirty="0" err="1"/>
              <a:t>CLPs</a:t>
            </a:r>
            <a:r>
              <a:rPr lang="pt-BR" dirty="0"/>
              <a:t> de maior porte</a:t>
            </a:r>
            <a:r>
              <a:rPr lang="pt-BR" baseline="0" dirty="0"/>
              <a:t> é possível fazer a alteração do programa mesmo durante a execução do mesmo.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46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4776C9EA-38C2-43D5-ADE7-4673ADF51E1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04C5BE8-B498-4785-83D1-E47D3EE4F45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7449921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</a:t>
            </a:r>
            <a:r>
              <a:rPr lang="pt-BR" dirty="0" err="1"/>
              <a:t>CLPs</a:t>
            </a:r>
            <a:r>
              <a:rPr lang="pt-BR" dirty="0"/>
              <a:t> de maior porte</a:t>
            </a:r>
            <a:r>
              <a:rPr lang="pt-BR" baseline="0" dirty="0"/>
              <a:t> é possível fazer a alteração do programa mesmo durante a execução do mesmo.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47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65F94BC6-E83D-4D1E-8F01-0550C8D8DC8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DA96122-4497-4650-B319-4D27F626CBA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1429976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Esses sistemas tomam decisões baseadas em suas informações de entrada e na lógica</a:t>
            </a:r>
            <a:r>
              <a:rPr lang="pt-BR" baseline="0" dirty="0"/>
              <a:t> desejada para manipular as saídas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50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2257CDA2-1F0A-438E-BD69-9582C848CE4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93C70A5-D360-423A-ACE4-E3582EF52BF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8604974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Embora os </a:t>
            </a:r>
            <a:r>
              <a:rPr lang="pt-BR" dirty="0" err="1"/>
              <a:t>CLPs</a:t>
            </a:r>
            <a:r>
              <a:rPr lang="pt-BR" dirty="0"/>
              <a:t> possam</a:t>
            </a:r>
            <a:r>
              <a:rPr lang="pt-BR" baseline="0" dirty="0"/>
              <a:t> ser aplicados em diferentes situações, seu custo impede alguns tipos de implementações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51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CC0A77C0-2993-4625-824F-576B28BB08F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E25A435-F088-4910-BF1D-75B1E7FBB0F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138080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Micro</a:t>
            </a:r>
            <a:r>
              <a:rPr lang="pt-BR" baseline="0" dirty="0"/>
              <a:t>processador é um CI com a função de CPU que para operar deverá estar inserido em um sistema maior que incorpore sistema de E/S de dados, memória externa, vias de comunicação...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52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154B26CF-50D9-484E-A684-55BB24CA1B0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EE08034-B87D-454F-BC14-0BC86E87896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39904496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Placa de prototipagem eletrônica.</a:t>
            </a:r>
            <a:r>
              <a:rPr lang="pt-BR" baseline="0" dirty="0"/>
              <a:t> Se popularizou por sua simplicidade e baixo custo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54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B859F7B7-B944-4E3B-BC7A-C3A9A6CF857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2607520-E902-4959-86D3-7718CA15C51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723342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2º item - Este problema também existe em </a:t>
            </a:r>
            <a:r>
              <a:rPr lang="pt-BR" dirty="0" err="1"/>
              <a:t>CLPs</a:t>
            </a:r>
            <a:r>
              <a:rPr lang="pt-BR" dirty="0"/>
              <a:t> e foi um dos motivadores da IEC61499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C80862-3F22-481B-B2B9-5717F3A02E92}" type="slidenum">
              <a:rPr lang="pt-BR" smtClean="0"/>
              <a:t>55</a:t>
            </a:fld>
            <a:endParaRPr lang="pt-BR"/>
          </a:p>
        </p:txBody>
      </p:sp>
      <p:sp>
        <p:nvSpPr>
          <p:cNvPr id="5" name="Espaço Reservado para Cabeçalho 4">
            <a:extLst>
              <a:ext uri="{FF2B5EF4-FFF2-40B4-BE49-F238E27FC236}">
                <a16:creationId xmlns:a16="http://schemas.microsoft.com/office/drawing/2014/main" id="{6BD30BD1-2030-4C79-A670-22DC7AC1572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/>
              <a:t>Universidade do Estado de Santa Catarina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834B54B-1B94-4DDB-B350-435F899ED8A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pt-BR"/>
              <a:t>Junho/2017</a:t>
            </a:r>
          </a:p>
        </p:txBody>
      </p:sp>
    </p:spTree>
    <p:extLst>
      <p:ext uri="{BB962C8B-B14F-4D97-AF65-F5344CB8AC3E}">
        <p14:creationId xmlns:p14="http://schemas.microsoft.com/office/powerpoint/2010/main" val="291622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03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91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99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573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12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99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05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623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65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37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108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E5480-6C10-46FB-99FB-7C00174D2A2B}" type="datetimeFigureOut">
              <a:rPr lang="pt-BR" smtClean="0"/>
              <a:t>24/06/2017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DCBA8-F5C4-458A-A317-A02566EDBF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70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00150" y="1122363"/>
            <a:ext cx="10382250" cy="2387600"/>
          </a:xfrm>
        </p:spPr>
        <p:txBody>
          <a:bodyPr/>
          <a:lstStyle/>
          <a:p>
            <a:r>
              <a:rPr lang="pt-BR" dirty="0"/>
              <a:t>Controlador Lógico Programável - CLP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556962"/>
            <a:ext cx="10668000" cy="1655762"/>
          </a:xfrm>
        </p:spPr>
        <p:txBody>
          <a:bodyPr numCol="1"/>
          <a:lstStyle/>
          <a:p>
            <a:pPr algn="l"/>
            <a:r>
              <a:rPr lang="pt-BR" dirty="0"/>
              <a:t>				Mestrando: </a:t>
            </a:r>
            <a:r>
              <a:rPr lang="pt-BR" dirty="0" err="1"/>
              <a:t>Handrey</a:t>
            </a:r>
            <a:r>
              <a:rPr lang="pt-BR" dirty="0"/>
              <a:t> Emanuel </a:t>
            </a:r>
            <a:r>
              <a:rPr lang="pt-BR" dirty="0" err="1"/>
              <a:t>Galon</a:t>
            </a:r>
            <a:endParaRPr lang="pt-BR" dirty="0"/>
          </a:p>
          <a:p>
            <a:pPr algn="l"/>
            <a:r>
              <a:rPr lang="pt-BR" dirty="0"/>
              <a:t>				Orientador: Prof. Roberto Silvio </a:t>
            </a:r>
            <a:r>
              <a:rPr lang="pt-BR" dirty="0" err="1"/>
              <a:t>Ubertino</a:t>
            </a:r>
            <a:r>
              <a:rPr lang="pt-BR" dirty="0"/>
              <a:t> </a:t>
            </a:r>
            <a:r>
              <a:rPr lang="pt-BR" dirty="0" err="1"/>
              <a:t>Rosso</a:t>
            </a:r>
            <a:r>
              <a:rPr lang="pt-BR" dirty="0"/>
              <a:t> Jr., PhD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897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41925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Histórico;</a:t>
            </a:r>
          </a:p>
          <a:p>
            <a:r>
              <a:rPr lang="pt-BR" dirty="0"/>
              <a:t>Componentes dos </a:t>
            </a:r>
            <a:r>
              <a:rPr lang="pt-BR" dirty="0" err="1"/>
              <a:t>CLPs</a:t>
            </a:r>
            <a:r>
              <a:rPr lang="pt-BR" dirty="0"/>
              <a:t>;</a:t>
            </a:r>
          </a:p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Compacto;</a:t>
            </a:r>
          </a:p>
          <a:p>
            <a:pPr lvl="1"/>
            <a:r>
              <a:rPr lang="pt-BR" dirty="0"/>
              <a:t>Modular.</a:t>
            </a:r>
          </a:p>
          <a:p>
            <a:r>
              <a:rPr lang="pt-BR" dirty="0"/>
              <a:t>Ciclo de operação do CLP;</a:t>
            </a:r>
          </a:p>
          <a:p>
            <a:r>
              <a:rPr lang="pt-BR" dirty="0"/>
              <a:t>Tipos de variáveis:</a:t>
            </a:r>
          </a:p>
          <a:p>
            <a:pPr lvl="1"/>
            <a:r>
              <a:rPr lang="pt-BR" dirty="0"/>
              <a:t>Digital;</a:t>
            </a:r>
          </a:p>
          <a:p>
            <a:pPr lvl="1"/>
            <a:r>
              <a:rPr lang="pt-BR" dirty="0"/>
              <a:t>Analógica.</a:t>
            </a:r>
          </a:p>
          <a:p>
            <a:r>
              <a:rPr lang="pt-BR" dirty="0"/>
              <a:t>Programando o CLP;</a:t>
            </a:r>
          </a:p>
          <a:p>
            <a:r>
              <a:rPr lang="pt-BR" dirty="0"/>
              <a:t>Norma IEC 61499;</a:t>
            </a:r>
          </a:p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PC;</a:t>
            </a:r>
          </a:p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Microcontrolador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975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CLP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</a:t>
            </a:r>
            <a:r>
              <a:rPr lang="pt-BR" b="1" dirty="0"/>
              <a:t>CLP </a:t>
            </a:r>
            <a:r>
              <a:rPr lang="pt-BR" dirty="0"/>
              <a:t>(</a:t>
            </a:r>
            <a:r>
              <a:rPr lang="pt-BR" b="1" dirty="0"/>
              <a:t>C</a:t>
            </a:r>
            <a:r>
              <a:rPr lang="pt-BR" dirty="0"/>
              <a:t>ontrolador </a:t>
            </a:r>
            <a:r>
              <a:rPr lang="pt-BR" b="1" dirty="0"/>
              <a:t>L</a:t>
            </a:r>
            <a:r>
              <a:rPr lang="pt-BR" dirty="0"/>
              <a:t>ógico </a:t>
            </a:r>
            <a:r>
              <a:rPr lang="pt-BR" b="1" dirty="0"/>
              <a:t>P</a:t>
            </a:r>
            <a:r>
              <a:rPr lang="pt-BR" dirty="0"/>
              <a:t>rogramável) ou </a:t>
            </a:r>
            <a:r>
              <a:rPr lang="pt-BR" b="1" dirty="0"/>
              <a:t>PLC</a:t>
            </a:r>
            <a:r>
              <a:rPr lang="pt-BR" dirty="0"/>
              <a:t> (</a:t>
            </a:r>
            <a:r>
              <a:rPr lang="pt-BR" b="1" i="1" dirty="0" err="1"/>
              <a:t>P</a:t>
            </a:r>
            <a:r>
              <a:rPr lang="pt-BR" i="1" dirty="0" err="1"/>
              <a:t>rogrammable</a:t>
            </a:r>
            <a:r>
              <a:rPr lang="pt-BR" i="1" dirty="0"/>
              <a:t> </a:t>
            </a:r>
            <a:r>
              <a:rPr lang="pt-BR" b="1" i="1" dirty="0" err="1"/>
              <a:t>L</a:t>
            </a:r>
            <a:r>
              <a:rPr lang="pt-BR" i="1" dirty="0" err="1"/>
              <a:t>ogic</a:t>
            </a:r>
            <a:r>
              <a:rPr lang="pt-BR" i="1" dirty="0"/>
              <a:t> </a:t>
            </a:r>
            <a:r>
              <a:rPr lang="pt-BR" b="1" i="1" dirty="0" err="1"/>
              <a:t>C</a:t>
            </a:r>
            <a:r>
              <a:rPr lang="pt-BR" i="1" dirty="0" err="1"/>
              <a:t>ontroller</a:t>
            </a:r>
            <a:r>
              <a:rPr lang="pt-BR" dirty="0"/>
              <a:t>) pode ser definido como:</a:t>
            </a:r>
          </a:p>
          <a:p>
            <a:pPr algn="just"/>
            <a:r>
              <a:rPr lang="pt-BR" b="1" dirty="0"/>
              <a:t>ABNT</a:t>
            </a:r>
            <a:r>
              <a:rPr lang="pt-BR" dirty="0"/>
              <a:t>: Um equipamento eletrônico-digital compatível com aplicações industriais;</a:t>
            </a:r>
          </a:p>
          <a:p>
            <a:pPr algn="just"/>
            <a:r>
              <a:rPr lang="pt-BR" b="1" dirty="0"/>
              <a:t>NMEA</a:t>
            </a:r>
            <a:r>
              <a:rPr lang="pt-BR" dirty="0"/>
              <a:t> (</a:t>
            </a:r>
            <a:r>
              <a:rPr lang="pt-BR" dirty="0" err="1"/>
              <a:t>National</a:t>
            </a:r>
            <a:r>
              <a:rPr lang="pt-BR" dirty="0"/>
              <a:t> </a:t>
            </a:r>
            <a:r>
              <a:rPr lang="pt-BR" dirty="0" err="1"/>
              <a:t>Electrical</a:t>
            </a:r>
            <a:r>
              <a:rPr lang="pt-BR" dirty="0"/>
              <a:t> Manufacturing </a:t>
            </a:r>
            <a:r>
              <a:rPr lang="pt-BR" dirty="0" err="1"/>
              <a:t>Association</a:t>
            </a:r>
            <a:r>
              <a:rPr lang="pt-BR" dirty="0"/>
              <a:t> – USA): Aparelho eletrônico digital que contém uma memória programável para armazenamento de instruções que são utilizadas para implementar funções específicas, tais como lógica, sequenciamento, temporização, contagem e aritmética, com o objetivo de controlar máquinas e processos.</a:t>
            </a:r>
          </a:p>
        </p:txBody>
      </p:sp>
    </p:spTree>
    <p:extLst>
      <p:ext uri="{BB962C8B-B14F-4D97-AF65-F5344CB8AC3E}">
        <p14:creationId xmlns:p14="http://schemas.microsoft.com/office/powerpoint/2010/main" val="2212660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68989"/>
          </a:xfrm>
        </p:spPr>
        <p:txBody>
          <a:bodyPr>
            <a:noAutofit/>
          </a:bodyPr>
          <a:lstStyle/>
          <a:p>
            <a:pPr algn="just"/>
            <a:endParaRPr lang="pt-BR" sz="4000" dirty="0"/>
          </a:p>
          <a:p>
            <a:pPr algn="just"/>
            <a:r>
              <a:rPr lang="pt-BR" sz="4000" dirty="0"/>
              <a:t>Durante a década de 50, os dispositivos eletromecânicos foram os recursos mais utilizados para efetuar controles lógicos e de intertravamentos nas linhas de produção e em máquinas isoladas (Relés eletromecânicos).</a:t>
            </a:r>
          </a:p>
        </p:txBody>
      </p:sp>
    </p:spTree>
    <p:extLst>
      <p:ext uri="{BB962C8B-B14F-4D97-AF65-F5344CB8AC3E}">
        <p14:creationId xmlns:p14="http://schemas.microsoft.com/office/powerpoint/2010/main" val="231977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3371"/>
            <a:ext cx="10515600" cy="1325563"/>
          </a:xfrm>
        </p:spPr>
        <p:txBody>
          <a:bodyPr/>
          <a:lstStyle/>
          <a:p>
            <a:r>
              <a:rPr lang="pt-BR" dirty="0"/>
              <a:t>Histórico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080" y="1322192"/>
            <a:ext cx="6851839" cy="5138879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705224" y="6461071"/>
            <a:ext cx="478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Painéis de comando (lógica de relés).</a:t>
            </a:r>
          </a:p>
        </p:txBody>
      </p:sp>
    </p:spTree>
    <p:extLst>
      <p:ext uri="{BB962C8B-B14F-4D97-AF65-F5344CB8AC3E}">
        <p14:creationId xmlns:p14="http://schemas.microsoft.com/office/powerpoint/2010/main" val="270348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3361"/>
            <a:ext cx="10515600" cy="1325563"/>
          </a:xfrm>
        </p:spPr>
        <p:txBody>
          <a:bodyPr/>
          <a:lstStyle/>
          <a:p>
            <a:r>
              <a:rPr lang="pt-BR" dirty="0"/>
              <a:t>Histórico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42" y="1158429"/>
            <a:ext cx="6711887" cy="504659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705225" y="6205025"/>
            <a:ext cx="4781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Painéis de comando (lógica de relés).</a:t>
            </a:r>
          </a:p>
        </p:txBody>
      </p:sp>
    </p:spTree>
    <p:extLst>
      <p:ext uri="{BB962C8B-B14F-4D97-AF65-F5344CB8AC3E}">
        <p14:creationId xmlns:p14="http://schemas.microsoft.com/office/powerpoint/2010/main" val="304346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Em meados da década de 1960 a </a:t>
            </a:r>
            <a:r>
              <a:rPr lang="pt-BR" dirty="0" err="1"/>
              <a:t>Bedford</a:t>
            </a:r>
            <a:r>
              <a:rPr lang="pt-BR" dirty="0"/>
              <a:t> Associates na Nova Inglaterra (EUA), era uma empresa especializada em sistemas de controle para empresas de máquinas-ferramenta.</a:t>
            </a:r>
          </a:p>
          <a:p>
            <a:pPr algn="just"/>
            <a:r>
              <a:rPr lang="pt-BR" dirty="0"/>
              <a:t>Em 1968, Richard </a:t>
            </a:r>
            <a:r>
              <a:rPr lang="pt-BR" dirty="0" err="1"/>
              <a:t>Morley</a:t>
            </a:r>
            <a:r>
              <a:rPr lang="pt-BR" dirty="0"/>
              <a:t> (sócio da </a:t>
            </a:r>
            <a:r>
              <a:rPr lang="pt-BR" dirty="0" err="1"/>
              <a:t>Bedford</a:t>
            </a:r>
            <a:r>
              <a:rPr lang="pt-BR" dirty="0"/>
              <a:t> Associates), idealizou o primeiro controlador lógico programável com as especificações:</a:t>
            </a:r>
          </a:p>
          <a:p>
            <a:pPr lvl="1" algn="just"/>
            <a:r>
              <a:rPr lang="pt-BR" dirty="0"/>
              <a:t>Seria um processador em tempo real;</a:t>
            </a:r>
          </a:p>
          <a:p>
            <a:pPr lvl="1" algn="just"/>
            <a:r>
              <a:rPr lang="pt-BR" dirty="0"/>
              <a:t>Previsível e confiável;</a:t>
            </a:r>
          </a:p>
          <a:p>
            <a:pPr lvl="1" algn="just"/>
            <a:r>
              <a:rPr lang="pt-BR" dirty="0"/>
              <a:t>Modular e resistente;</a:t>
            </a:r>
          </a:p>
          <a:p>
            <a:pPr lvl="1" algn="just"/>
            <a:r>
              <a:rPr lang="pt-BR" dirty="0"/>
              <a:t>Programação baseada em </a:t>
            </a:r>
            <a:r>
              <a:rPr lang="pt-BR" dirty="0" err="1"/>
              <a:t>Ladder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622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3361"/>
            <a:ext cx="10515600" cy="1325563"/>
          </a:xfrm>
        </p:spPr>
        <p:txBody>
          <a:bodyPr/>
          <a:lstStyle/>
          <a:p>
            <a:r>
              <a:rPr lang="pt-BR" dirty="0"/>
              <a:t>Histórico</a:t>
            </a:r>
          </a:p>
        </p:txBody>
      </p:sp>
      <p:pic>
        <p:nvPicPr>
          <p:cNvPr id="1028" name="Picture 4" descr="Imagem relacionada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991" y="994653"/>
            <a:ext cx="7289058" cy="490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849103" y="5898202"/>
            <a:ext cx="413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Modicon</a:t>
            </a:r>
            <a:r>
              <a:rPr lang="en-US" b="1" dirty="0"/>
              <a:t> 084 and development team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0620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No mesmo ano, em 1968, a Divisão Hidramática da General Motors Corporation desenvolveu um conjunto de especificações para um CLP.</a:t>
            </a:r>
          </a:p>
          <a:p>
            <a:pPr lvl="1" algn="just"/>
            <a:r>
              <a:rPr lang="pt-BR" dirty="0"/>
              <a:t>Ser facilmente programado e reprogramado;</a:t>
            </a:r>
          </a:p>
          <a:p>
            <a:pPr lvl="1" algn="just"/>
            <a:r>
              <a:rPr lang="pt-BR" dirty="0"/>
              <a:t>Ter condições de operarem ambientes industriais (vibração, temperatura, poeira, ruídos);</a:t>
            </a:r>
          </a:p>
          <a:p>
            <a:pPr lvl="1" algn="just"/>
            <a:r>
              <a:rPr lang="pt-BR" dirty="0"/>
              <a:t>Aceitar sinais de 120 V ac;</a:t>
            </a:r>
          </a:p>
          <a:p>
            <a:pPr lvl="1" algn="just"/>
            <a:r>
              <a:rPr lang="pt-BR" dirty="0"/>
              <a:t>Dispor de saídas projetadas para comutar e operar continuamente cargas como motores e relés de classificação;</a:t>
            </a:r>
          </a:p>
          <a:p>
            <a:pPr lvl="1" algn="just"/>
            <a:r>
              <a:rPr lang="pt-BR" dirty="0"/>
              <a:t>Possuir preço e custo de instalação competitivos se comparados aos dos controladores eletromecânicos baseados em relés.</a:t>
            </a:r>
          </a:p>
        </p:txBody>
      </p:sp>
    </p:spTree>
    <p:extLst>
      <p:ext uri="{BB962C8B-B14F-4D97-AF65-F5344CB8AC3E}">
        <p14:creationId xmlns:p14="http://schemas.microsoft.com/office/powerpoint/2010/main" val="2835781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altLang="pt-BR" dirty="0"/>
              <a:t>A década de 1970 marca uma fase de grande aprimoramento dos </a:t>
            </a:r>
            <a:r>
              <a:rPr lang="pt-BR" altLang="pt-BR" dirty="0" err="1"/>
              <a:t>CLPs</a:t>
            </a:r>
            <a:r>
              <a:rPr lang="pt-BR" altLang="pt-BR" dirty="0"/>
              <a:t>, principalmente devido as inovações tecnológicas dos microprocessadores. Os Controladores Lógicos Programáveis incorporam:</a:t>
            </a:r>
          </a:p>
          <a:p>
            <a:pPr lvl="1" algn="just"/>
            <a:r>
              <a:rPr lang="pt-BR" altLang="pt-BR" dirty="0"/>
              <a:t>Funções temporização e contagem; </a:t>
            </a:r>
          </a:p>
          <a:p>
            <a:pPr lvl="1" algn="just"/>
            <a:r>
              <a:rPr lang="pt-BR" dirty="0"/>
              <a:t>Capacidade aritmética e manipulação de dados;</a:t>
            </a:r>
          </a:p>
          <a:p>
            <a:pPr lvl="1" algn="just"/>
            <a:r>
              <a:rPr lang="pt-BR" dirty="0"/>
              <a:t>Comunicação com computadores e com interfaces homem-máquina (IHM);</a:t>
            </a:r>
          </a:p>
          <a:p>
            <a:pPr lvl="1" algn="just"/>
            <a:r>
              <a:rPr lang="pt-BR" dirty="0"/>
              <a:t>Aumento da memória;</a:t>
            </a:r>
          </a:p>
          <a:p>
            <a:pPr lvl="1" algn="just"/>
            <a:r>
              <a:rPr lang="pt-BR" dirty="0"/>
              <a:t>Controle analógico;</a:t>
            </a:r>
          </a:p>
          <a:p>
            <a:pPr lvl="1" algn="just"/>
            <a:r>
              <a:rPr lang="pt-BR" dirty="0"/>
              <a:t>Módulos de I/O remotos.</a:t>
            </a:r>
          </a:p>
        </p:txBody>
      </p:sp>
    </p:spTree>
    <p:extLst>
      <p:ext uri="{BB962C8B-B14F-4D97-AF65-F5344CB8AC3E}">
        <p14:creationId xmlns:p14="http://schemas.microsoft.com/office/powerpoint/2010/main" val="385333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sz="3600" dirty="0"/>
              <a:t>No Brasil porém, é na década de 80, que o CLP veio a proliferar na indústria, primeiramente pela absorção de tecnologias utilizadas na matriz das multinacionais.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259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3364"/>
            <a:ext cx="10515600" cy="1325563"/>
          </a:xfrm>
        </p:spPr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924873"/>
            <a:ext cx="10670628" cy="4351338"/>
          </a:xfrm>
        </p:spPr>
        <p:txBody>
          <a:bodyPr/>
          <a:lstStyle/>
          <a:p>
            <a:pPr algn="just"/>
            <a:r>
              <a:rPr lang="pt-BR" dirty="0"/>
              <a:t>Vantagens no uso de CLP em detrimento dos relés:</a:t>
            </a:r>
          </a:p>
          <a:p>
            <a:pPr algn="just"/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929277"/>
              </p:ext>
            </p:extLst>
          </p:nvPr>
        </p:nvGraphicFramePr>
        <p:xfrm>
          <a:off x="838200" y="1401051"/>
          <a:ext cx="9684408" cy="4582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783">
                <a:tc>
                  <a:txBody>
                    <a:bodyPr/>
                    <a:lstStyle/>
                    <a:p>
                      <a:r>
                        <a:rPr lang="pt-BR" dirty="0"/>
                        <a:t>Características do sistema</a:t>
                      </a:r>
                      <a:r>
                        <a:rPr lang="pt-BR" baseline="0" dirty="0"/>
                        <a:t> com </a:t>
                      </a:r>
                      <a:r>
                        <a:rPr lang="pt-BR" dirty="0"/>
                        <a:t>CLP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Benefícios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783">
                <a:tc>
                  <a:txBody>
                    <a:bodyPr/>
                    <a:lstStyle/>
                    <a:p>
                      <a:r>
                        <a:rPr lang="pt-BR" dirty="0"/>
                        <a:t>Memória programável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Simplifica</a:t>
                      </a:r>
                      <a:r>
                        <a:rPr lang="pt-BR" baseline="0" dirty="0"/>
                        <a:t> mudanças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aseline="0" dirty="0"/>
                        <a:t>Flexibiliza o controle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783">
                <a:tc>
                  <a:txBody>
                    <a:bodyPr/>
                    <a:lstStyle/>
                    <a:p>
                      <a:r>
                        <a:rPr lang="pt-BR" dirty="0"/>
                        <a:t>Pequeno tamanho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Necessita</a:t>
                      </a:r>
                      <a:r>
                        <a:rPr lang="pt-BR" baseline="0" dirty="0"/>
                        <a:t> de espaço físico mínimo para instalação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783">
                <a:tc>
                  <a:txBody>
                    <a:bodyPr/>
                    <a:lstStyle/>
                    <a:p>
                      <a:r>
                        <a:rPr lang="pt-BR" dirty="0"/>
                        <a:t>Microprocessador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Capacidade de comunicação</a:t>
                      </a:r>
                      <a:r>
                        <a:rPr lang="pt-BR" baseline="0" dirty="0"/>
                        <a:t> com outros sistemas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aseline="0" dirty="0"/>
                        <a:t>Alta performance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aseline="0" dirty="0"/>
                        <a:t>Possibilidade de trabalhar com muitas funções simultaneamente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783">
                <a:tc>
                  <a:txBody>
                    <a:bodyPr/>
                    <a:lstStyle/>
                    <a:p>
                      <a:r>
                        <a:rPr lang="pt-BR" dirty="0"/>
                        <a:t>Arquitetura</a:t>
                      </a:r>
                      <a:r>
                        <a:rPr lang="pt-BR" baseline="0" dirty="0"/>
                        <a:t> modular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Flexibilidade para instalação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Expansibilidade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783">
                <a:tc>
                  <a:txBody>
                    <a:bodyPr/>
                    <a:lstStyle/>
                    <a:p>
                      <a:r>
                        <a:rPr lang="pt-BR" dirty="0"/>
                        <a:t>Variedades de interfaces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Controle de uma grande quantidade de I/O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996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altLang="pt-BR" dirty="0"/>
              <a:t>Historicamente os </a:t>
            </a:r>
            <a:r>
              <a:rPr lang="pt-BR" altLang="pt-BR" dirty="0" err="1"/>
              <a:t>CLPs</a:t>
            </a:r>
            <a:r>
              <a:rPr lang="pt-BR" altLang="pt-BR" dirty="0"/>
              <a:t> podem ser classificados nas seguintes categorias:</a:t>
            </a:r>
          </a:p>
          <a:p>
            <a:pPr algn="just"/>
            <a:r>
              <a:rPr lang="pt-BR" altLang="pt-BR" b="1" dirty="0"/>
              <a:t>1ª GERAÇÃO</a:t>
            </a:r>
            <a:r>
              <a:rPr lang="pt-BR" altLang="pt-BR" dirty="0"/>
              <a:t>: Programação em Assembly. </a:t>
            </a:r>
          </a:p>
          <a:p>
            <a:pPr algn="just"/>
            <a:r>
              <a:rPr lang="pt-BR" altLang="pt-BR" b="1" dirty="0"/>
              <a:t>2</a:t>
            </a:r>
            <a:r>
              <a:rPr lang="pt-BR" altLang="pt-BR" sz="2000" b="1" dirty="0"/>
              <a:t>ª</a:t>
            </a:r>
            <a:r>
              <a:rPr lang="pt-BR" altLang="pt-BR" b="1" dirty="0"/>
              <a:t> GERAÇÃO</a:t>
            </a:r>
            <a:r>
              <a:rPr lang="pt-BR" altLang="pt-BR" dirty="0"/>
              <a:t>: Apareceram as linguagens de programação de nível médio. Foi desenvolvido o “Programa monitor” que transformava para linguagem de máquina o programa inserido pelo usuário. </a:t>
            </a:r>
          </a:p>
          <a:p>
            <a:pPr algn="just"/>
            <a:r>
              <a:rPr lang="pt-BR" altLang="pt-BR" b="1" dirty="0"/>
              <a:t>3ª GERAÇÃO</a:t>
            </a:r>
            <a:r>
              <a:rPr lang="pt-BR" altLang="pt-BR" dirty="0"/>
              <a:t>: Os </a:t>
            </a:r>
            <a:r>
              <a:rPr lang="pt-BR" altLang="pt-BR" dirty="0" err="1"/>
              <a:t>CLPs</a:t>
            </a:r>
            <a:r>
              <a:rPr lang="pt-BR" altLang="pt-BR" dirty="0"/>
              <a:t> passam a ter uma entrada de programação que era feita através de um teclado, conectado ao mesmo.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404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altLang="pt-BR" b="1" dirty="0"/>
              <a:t>4ª GERAÇÃO</a:t>
            </a:r>
            <a:r>
              <a:rPr lang="pt-BR" altLang="pt-BR" dirty="0"/>
              <a:t>: É introduzida uma entrada para comunicação serial, e a programação passa a ser feita através de microcomputadores. </a:t>
            </a:r>
            <a:endParaRPr lang="pt-BR" altLang="pt-BR" b="1" dirty="0"/>
          </a:p>
          <a:p>
            <a:pPr algn="just"/>
            <a:r>
              <a:rPr lang="pt-BR" altLang="pt-BR" b="1" dirty="0"/>
              <a:t>5ª GERAÇÃO</a:t>
            </a:r>
            <a:r>
              <a:rPr lang="pt-BR" altLang="pt-BR" dirty="0"/>
              <a:t>: Os </a:t>
            </a:r>
            <a:r>
              <a:rPr lang="pt-BR" altLang="pt-BR" dirty="0" err="1"/>
              <a:t>CLPs</a:t>
            </a:r>
            <a:r>
              <a:rPr lang="pt-BR" altLang="pt-BR" dirty="0"/>
              <a:t> de quinta geração vem com padrões de protocolo de comunicação para facilitar a interface com equipamentos de outros fabricantes, e também com Sistemas Supervisórios e Redes Internas de comunicação.</a:t>
            </a:r>
          </a:p>
          <a:p>
            <a:pPr algn="just"/>
            <a:endParaRPr lang="pt-BR" alt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5321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dos CLP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926" y="1690688"/>
            <a:ext cx="7722148" cy="519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438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De acordo com a quantidade de terminais de entrada/saída, os </a:t>
            </a:r>
            <a:r>
              <a:rPr lang="pt-BR" dirty="0" err="1"/>
              <a:t>CLPs</a:t>
            </a:r>
            <a:r>
              <a:rPr lang="pt-BR" dirty="0"/>
              <a:t> podem ser classificados como: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3162"/>
              </p:ext>
            </p:extLst>
          </p:nvPr>
        </p:nvGraphicFramePr>
        <p:xfrm>
          <a:off x="3956334" y="3135321"/>
          <a:ext cx="4491630" cy="2528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41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Tamanho do CLP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Quantidade de E/S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17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CLP grande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≥ 1024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17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CLP médio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 1024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17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CLP pequeno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&lt; 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17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CLP</a:t>
                      </a:r>
                      <a:r>
                        <a:rPr lang="pt-BR" baseline="0" dirty="0"/>
                        <a:t> micro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≤ 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417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CLP nano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≤ 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623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sz="3600" dirty="0"/>
          </a:p>
          <a:p>
            <a:pPr algn="just"/>
            <a:r>
              <a:rPr lang="pt-BR" sz="3600" dirty="0"/>
              <a:t>De acordo com a disposição dos elementos constituintes dos </a:t>
            </a:r>
            <a:r>
              <a:rPr lang="pt-BR" sz="3600" dirty="0" err="1"/>
              <a:t>CLPs</a:t>
            </a:r>
            <a:r>
              <a:rPr lang="pt-BR" sz="3600" dirty="0"/>
              <a:t>, pode-se classifica-los em:</a:t>
            </a:r>
          </a:p>
          <a:p>
            <a:pPr algn="just"/>
            <a:endParaRPr lang="pt-BR" sz="3600" dirty="0"/>
          </a:p>
          <a:p>
            <a:pPr lvl="1" algn="just"/>
            <a:r>
              <a:rPr lang="pt-BR" sz="3600" dirty="0"/>
              <a:t>Compactos;</a:t>
            </a:r>
          </a:p>
          <a:p>
            <a:pPr lvl="1" algn="just"/>
            <a:endParaRPr lang="pt-BR" sz="3600" dirty="0"/>
          </a:p>
          <a:p>
            <a:pPr lvl="1" algn="just"/>
            <a:r>
              <a:rPr lang="pt-BR" sz="3600" dirty="0"/>
              <a:t>Modulares.</a:t>
            </a:r>
          </a:p>
        </p:txBody>
      </p:sp>
    </p:spTree>
    <p:extLst>
      <p:ext uri="{BB962C8B-B14F-4D97-AF65-F5344CB8AC3E}">
        <p14:creationId xmlns:p14="http://schemas.microsoft.com/office/powerpoint/2010/main" val="841267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r>
              <a:rPr lang="pt-BR" dirty="0"/>
              <a:t> - Compacto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sz="3600" b="1" dirty="0"/>
          </a:p>
          <a:p>
            <a:pPr algn="just"/>
            <a:r>
              <a:rPr lang="pt-BR" sz="3600" b="1" dirty="0"/>
              <a:t>CLP Compacto</a:t>
            </a:r>
            <a:r>
              <a:rPr lang="pt-BR" sz="3600" dirty="0"/>
              <a:t>: Todos os componentes são colocados em uma única estrutura física, isto é, o processador, a memória, a fonte e o sistema de entrada e saída são colocados em um gabinete ficando ao usuário com acesso somente ao sistema aos conectores do sistema de E/S.</a:t>
            </a:r>
          </a:p>
        </p:txBody>
      </p:sp>
    </p:spTree>
    <p:extLst>
      <p:ext uri="{BB962C8B-B14F-4D97-AF65-F5344CB8AC3E}">
        <p14:creationId xmlns:p14="http://schemas.microsoft.com/office/powerpoint/2010/main" val="1159258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r>
              <a:rPr lang="pt-BR" dirty="0"/>
              <a:t> - Compacto</a:t>
            </a:r>
          </a:p>
        </p:txBody>
      </p:sp>
      <p:pic>
        <p:nvPicPr>
          <p:cNvPr id="1030" name="Picture 6" descr="Resultado de imagem para clp compacto rockwel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1690688"/>
            <a:ext cx="4986903" cy="373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m para clp compact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101" y="1690688"/>
            <a:ext cx="4926981" cy="408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903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r>
              <a:rPr lang="pt-BR" dirty="0"/>
              <a:t> - Modular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02263"/>
            <a:ext cx="10515600" cy="5470525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São compostos por uma estrutura modular, em que cada módulo detém uma determinada função;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Os sistemas de entrada/saída (I/O) são descompostos em módulos de acordo com suas características;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São colocados em posições predefinidas (racks), podendo formar uma configuração de médio ou grande porte.</a:t>
            </a:r>
          </a:p>
        </p:txBody>
      </p:sp>
    </p:spTree>
    <p:extLst>
      <p:ext uri="{BB962C8B-B14F-4D97-AF65-F5344CB8AC3E}">
        <p14:creationId xmlns:p14="http://schemas.microsoft.com/office/powerpoint/2010/main" val="2788637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199" y="-1"/>
            <a:ext cx="10624735" cy="1325563"/>
          </a:xfrm>
        </p:spPr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r>
              <a:rPr lang="pt-BR" dirty="0"/>
              <a:t> – Compacto </a:t>
            </a:r>
            <a:r>
              <a:rPr lang="pt-BR" dirty="0" err="1"/>
              <a:t>vs</a:t>
            </a:r>
            <a:r>
              <a:rPr lang="pt-BR" dirty="0"/>
              <a:t> Modular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47335" y="1150850"/>
            <a:ext cx="10515600" cy="6164350"/>
          </a:xfrm>
        </p:spPr>
        <p:txBody>
          <a:bodyPr/>
          <a:lstStyle/>
          <a:p>
            <a:pPr algn="just"/>
            <a:r>
              <a:rPr lang="pt-BR" dirty="0"/>
              <a:t>Modular: A configuração do CLP pode ser montada de acordo com a necessidade do usuário.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Compacto: Sua configuração não pode ser alterada.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12" y="2205037"/>
            <a:ext cx="8173632" cy="181451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386" y="4899025"/>
            <a:ext cx="1895475" cy="1684867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859" y="4899025"/>
            <a:ext cx="2364249" cy="168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23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27176"/>
            <a:ext cx="10515600" cy="1325563"/>
          </a:xfrm>
        </p:spPr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r>
              <a:rPr lang="pt-BR" dirty="0"/>
              <a:t> - Modular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161163"/>
            <a:ext cx="10515600" cy="705737"/>
          </a:xfrm>
        </p:spPr>
        <p:txBody>
          <a:bodyPr/>
          <a:lstStyle/>
          <a:p>
            <a:pPr algn="just"/>
            <a:r>
              <a:rPr lang="pt-BR" dirty="0"/>
              <a:t>Allen-Bradley SLC 500 PLC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68415"/>
            <a:ext cx="10825841" cy="47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41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5563"/>
          </a:xfrm>
        </p:spPr>
        <p:txBody>
          <a:bodyPr/>
          <a:lstStyle/>
          <a:p>
            <a:r>
              <a:rPr lang="pt-BR" dirty="0"/>
              <a:t>Classificação dos </a:t>
            </a:r>
            <a:r>
              <a:rPr lang="pt-BR" dirty="0" err="1"/>
              <a:t>CLPs</a:t>
            </a:r>
            <a:r>
              <a:rPr lang="pt-BR" dirty="0"/>
              <a:t> - Modular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47335" y="1150850"/>
            <a:ext cx="10515600" cy="654081"/>
          </a:xfrm>
        </p:spPr>
        <p:txBody>
          <a:bodyPr/>
          <a:lstStyle/>
          <a:p>
            <a:pPr algn="just"/>
            <a:r>
              <a:rPr lang="pt-BR" dirty="0"/>
              <a:t>Siemens SIMATIC S7-300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35" y="1715927"/>
            <a:ext cx="10733871" cy="46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27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operação do CLP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6490648" cy="4351338"/>
          </a:xfrm>
        </p:spPr>
        <p:txBody>
          <a:bodyPr/>
          <a:lstStyle/>
          <a:p>
            <a:pPr algn="just"/>
            <a:r>
              <a:rPr lang="pt-BR" dirty="0"/>
              <a:t>O princípio fundamental de </a:t>
            </a:r>
            <a:r>
              <a:rPr lang="pt-BR" dirty="0" err="1"/>
              <a:t>funcio-namento</a:t>
            </a:r>
            <a:r>
              <a:rPr lang="pt-BR" dirty="0"/>
              <a:t> do CLP é a execução de um programa pela CPU, que realiza ciclicamente as ações de leitura das entradas, execução do programa de controle do usuário e atualização das saída.</a:t>
            </a:r>
          </a:p>
          <a:p>
            <a:pPr algn="just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435" y="365125"/>
            <a:ext cx="3673365" cy="649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48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operação do CLP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3600" dirty="0"/>
              <a:t>O tempo total para execução dessas tarefas, chamado ciclo de varredura, </a:t>
            </a:r>
            <a:r>
              <a:rPr lang="pt-BR" sz="3600" i="1" dirty="0" err="1"/>
              <a:t>scanning</a:t>
            </a:r>
            <a:r>
              <a:rPr lang="pt-BR" sz="3600" i="1" dirty="0"/>
              <a:t> </a:t>
            </a:r>
            <a:r>
              <a:rPr lang="pt-BR" sz="3600" dirty="0"/>
              <a:t>ou tempo de </a:t>
            </a:r>
            <a:r>
              <a:rPr lang="pt-BR" sz="3600" dirty="0" err="1"/>
              <a:t>scan</a:t>
            </a:r>
            <a:r>
              <a:rPr lang="pt-BR" sz="3600" dirty="0"/>
              <a:t> e depende:</a:t>
            </a:r>
          </a:p>
          <a:p>
            <a:pPr algn="just"/>
            <a:endParaRPr lang="pt-BR" sz="3600" dirty="0"/>
          </a:p>
          <a:p>
            <a:pPr lvl="1" algn="just"/>
            <a:r>
              <a:rPr lang="pt-BR" sz="3200" dirty="0"/>
              <a:t>Da velocidade e características do processador utilizado.</a:t>
            </a:r>
          </a:p>
          <a:p>
            <a:pPr lvl="1" algn="just"/>
            <a:r>
              <a:rPr lang="pt-BR" sz="3200" dirty="0"/>
              <a:t>Do tamanho do programa de controle do usuário.</a:t>
            </a:r>
          </a:p>
          <a:p>
            <a:pPr lvl="1" algn="just"/>
            <a:r>
              <a:rPr lang="pt-BR" sz="3200" dirty="0"/>
              <a:t>Da quantidade de pontos de entrada/saída.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0197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4490"/>
            <a:ext cx="12192000" cy="81618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operação do CLP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60687"/>
          </a:xfrm>
        </p:spPr>
        <p:txBody>
          <a:bodyPr/>
          <a:lstStyle/>
          <a:p>
            <a:pPr algn="just"/>
            <a:r>
              <a:rPr lang="pt-BR" sz="3200" dirty="0"/>
              <a:t>O ciclo de varredura (</a:t>
            </a:r>
            <a:r>
              <a:rPr lang="pt-BR" sz="3200" i="1" dirty="0" err="1"/>
              <a:t>scan</a:t>
            </a:r>
            <a:r>
              <a:rPr lang="pt-BR" sz="3200" dirty="0"/>
              <a:t>) é composto de três etapas:</a:t>
            </a:r>
          </a:p>
          <a:p>
            <a:pPr lvl="1" algn="just"/>
            <a:r>
              <a:rPr lang="pt-BR" sz="2800" b="1" dirty="0"/>
              <a:t>Varredura de entrada </a:t>
            </a:r>
            <a:r>
              <a:rPr lang="pt-BR" sz="2800" dirty="0"/>
              <a:t>– entradas são lidas por processador e armazenadas na memória.</a:t>
            </a:r>
          </a:p>
          <a:p>
            <a:pPr lvl="1" algn="just"/>
            <a:r>
              <a:rPr lang="pt-BR" sz="2800" b="1" dirty="0"/>
              <a:t>Varredura do programa </a:t>
            </a:r>
            <a:r>
              <a:rPr lang="pt-BR" sz="2800" dirty="0"/>
              <a:t>– programa de controle é executado. Valores de entrada armazenados na memória são utilizados nos cálculos da lógica de controle para </a:t>
            </a:r>
            <a:r>
              <a:rPr lang="pt-BR" sz="2800" dirty="0" err="1"/>
              <a:t>determiner</a:t>
            </a:r>
            <a:r>
              <a:rPr lang="pt-BR" sz="2800" dirty="0"/>
              <a:t> os valores das saídas.</a:t>
            </a:r>
          </a:p>
          <a:p>
            <a:pPr lvl="1" algn="just"/>
            <a:r>
              <a:rPr lang="pt-BR" sz="2800" b="1" dirty="0"/>
              <a:t>Varredura de saída </a:t>
            </a:r>
            <a:r>
              <a:rPr lang="pt-BR" sz="2800" dirty="0"/>
              <a:t>– valores de saída são atualizados para concordar com os valores calculados</a:t>
            </a:r>
            <a:r>
              <a:rPr lang="en-US" sz="2800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7130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sz="3600" b="1" dirty="0"/>
          </a:p>
          <a:p>
            <a:pPr algn="just"/>
            <a:r>
              <a:rPr lang="pt-BR" sz="3600" b="1" dirty="0"/>
              <a:t>Entrada</a:t>
            </a:r>
            <a:r>
              <a:rPr lang="pt-BR" sz="3600" dirty="0"/>
              <a:t>: Considera-se cada sinal recebido pelo CLP. Podem ser do tipo:</a:t>
            </a:r>
          </a:p>
          <a:p>
            <a:pPr lvl="1" algn="just"/>
            <a:endParaRPr lang="pt-BR" sz="3600" dirty="0"/>
          </a:p>
          <a:p>
            <a:pPr lvl="1" algn="just"/>
            <a:r>
              <a:rPr lang="pt-BR" sz="3600" dirty="0"/>
              <a:t>Entrada digital;</a:t>
            </a:r>
          </a:p>
          <a:p>
            <a:pPr lvl="1" algn="just"/>
            <a:endParaRPr lang="pt-BR" sz="3600" dirty="0"/>
          </a:p>
          <a:p>
            <a:pPr lvl="1" algn="just"/>
            <a:r>
              <a:rPr lang="pt-BR" sz="3600" dirty="0"/>
              <a:t>Entrada analógica.</a:t>
            </a:r>
          </a:p>
        </p:txBody>
      </p:sp>
    </p:spTree>
    <p:extLst>
      <p:ext uri="{BB962C8B-B14F-4D97-AF65-F5344CB8AC3E}">
        <p14:creationId xmlns:p14="http://schemas.microsoft.com/office/powerpoint/2010/main" val="2382729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/>
              <a:t>Entradas digitais</a:t>
            </a:r>
            <a:r>
              <a:rPr lang="pt-BR" dirty="0"/>
              <a:t>: Possuem somente dois estados.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62" y="2634443"/>
            <a:ext cx="2056896" cy="114598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604" y="2475426"/>
            <a:ext cx="1930308" cy="202524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597" y="2475426"/>
            <a:ext cx="1981200" cy="15621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859" y="2475426"/>
            <a:ext cx="1657350" cy="1714500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5751962" y="4500667"/>
            <a:ext cx="11239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Botão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9568640" y="4166115"/>
            <a:ext cx="1825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Chaves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315372" y="3762370"/>
            <a:ext cx="1850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Sensor </a:t>
            </a:r>
            <a:r>
              <a:rPr lang="pt-BR" dirty="0" err="1"/>
              <a:t>On</a:t>
            </a:r>
            <a:r>
              <a:rPr lang="pt-BR" dirty="0"/>
              <a:t>/Off</a:t>
            </a:r>
          </a:p>
        </p:txBody>
      </p:sp>
    </p:spTree>
    <p:extLst>
      <p:ext uri="{BB962C8B-B14F-4D97-AF65-F5344CB8AC3E}">
        <p14:creationId xmlns:p14="http://schemas.microsoft.com/office/powerpoint/2010/main" val="1157724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/>
              <a:t>Entradas analógicas</a:t>
            </a:r>
            <a:r>
              <a:rPr lang="pt-BR" dirty="0"/>
              <a:t>: Possuem valores que variam dentro de uma determinada faixa.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01194"/>
            <a:ext cx="2152650" cy="1166597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490" y="2935661"/>
            <a:ext cx="2318185" cy="1697661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4235" y="3040922"/>
            <a:ext cx="1394249" cy="1326869"/>
          </a:xfrm>
          <a:prstGeom prst="rect">
            <a:avLst/>
          </a:prstGeom>
        </p:spPr>
      </p:pic>
      <p:pic>
        <p:nvPicPr>
          <p:cNvPr id="11" name="Picture 27" descr="sensor de pressa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3015478"/>
            <a:ext cx="182880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aixaDeTexto 12"/>
          <p:cNvSpPr txBox="1"/>
          <p:nvPr/>
        </p:nvSpPr>
        <p:spPr>
          <a:xfrm>
            <a:off x="6887285" y="4366380"/>
            <a:ext cx="2276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LM35 – Sensor de Temperatura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1028397" y="4551046"/>
            <a:ext cx="2152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LDR – Sensor de Luminosidade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3829050" y="4889184"/>
            <a:ext cx="188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Sensor de Pressão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9882692" y="4551046"/>
            <a:ext cx="182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Potenciômetro</a:t>
            </a:r>
          </a:p>
        </p:txBody>
      </p:sp>
    </p:spTree>
    <p:extLst>
      <p:ext uri="{BB962C8B-B14F-4D97-AF65-F5344CB8AC3E}">
        <p14:creationId xmlns:p14="http://schemas.microsoft.com/office/powerpoint/2010/main" val="1379142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sz="3600" b="1" dirty="0"/>
          </a:p>
          <a:p>
            <a:pPr algn="just"/>
            <a:r>
              <a:rPr lang="pt-BR" sz="3600" b="1" dirty="0"/>
              <a:t>Saída</a:t>
            </a:r>
            <a:r>
              <a:rPr lang="pt-BR" sz="3600" dirty="0"/>
              <a:t>: Considera-se cada sinal produzido pelo CLP. Podem ser do tipo:</a:t>
            </a:r>
          </a:p>
          <a:p>
            <a:pPr algn="just"/>
            <a:endParaRPr lang="pt-BR" sz="3600" dirty="0"/>
          </a:p>
          <a:p>
            <a:pPr lvl="1" algn="just"/>
            <a:r>
              <a:rPr lang="pt-BR" sz="3600" dirty="0"/>
              <a:t>Saída digital;</a:t>
            </a:r>
          </a:p>
          <a:p>
            <a:pPr lvl="1" algn="just"/>
            <a:endParaRPr lang="pt-BR" sz="3600" dirty="0"/>
          </a:p>
          <a:p>
            <a:pPr lvl="1" algn="just"/>
            <a:r>
              <a:rPr lang="pt-BR" sz="3600" dirty="0"/>
              <a:t>Saída analógica.</a:t>
            </a:r>
          </a:p>
        </p:txBody>
      </p:sp>
    </p:spTree>
    <p:extLst>
      <p:ext uri="{BB962C8B-B14F-4D97-AF65-F5344CB8AC3E}">
        <p14:creationId xmlns:p14="http://schemas.microsoft.com/office/powerpoint/2010/main" val="529813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Saídas digitais: Possuem somente dois estados.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03204"/>
            <a:ext cx="1918568" cy="188971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62" y="2603204"/>
            <a:ext cx="2352675" cy="306705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586537" y="4627858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Sinaleiro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005263" y="5670254"/>
            <a:ext cx="2090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Contatores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2317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Saídas analógicas: Possuem valores que variam dentro de uma determinada faixa.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810" y="3058719"/>
            <a:ext cx="3076575" cy="1123950"/>
          </a:xfrm>
          <a:prstGeom prst="rect">
            <a:avLst/>
          </a:prstGeom>
        </p:spPr>
      </p:pic>
      <p:pic>
        <p:nvPicPr>
          <p:cNvPr id="1026" name="Picture 2" descr="Resultado de imagem para inversor de frequenc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995" y="3058719"/>
            <a:ext cx="2368584" cy="355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6449995" y="6611596"/>
            <a:ext cx="345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Inversor de Frequência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887645" y="4317606"/>
            <a:ext cx="272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Válvula Solenoide</a:t>
            </a:r>
          </a:p>
        </p:txBody>
      </p:sp>
    </p:spTree>
    <p:extLst>
      <p:ext uri="{BB962C8B-B14F-4D97-AF65-F5344CB8AC3E}">
        <p14:creationId xmlns:p14="http://schemas.microsoft.com/office/powerpoint/2010/main" val="2554766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22237"/>
            <a:ext cx="10515600" cy="1325563"/>
          </a:xfrm>
        </p:spPr>
        <p:txBody>
          <a:bodyPr/>
          <a:lstStyle/>
          <a:p>
            <a:r>
              <a:rPr lang="pt-BR" dirty="0"/>
              <a:t>Programando o CLP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 fontScale="92500"/>
          </a:bodyPr>
          <a:lstStyle/>
          <a:p>
            <a:pPr algn="just"/>
            <a:r>
              <a:rPr lang="pt-BR" dirty="0"/>
              <a:t>Em 1992, um padrão para a programação de </a:t>
            </a:r>
            <a:r>
              <a:rPr lang="pt-BR" dirty="0" err="1"/>
              <a:t>CLPs</a:t>
            </a:r>
            <a:r>
              <a:rPr lang="pt-BR" dirty="0"/>
              <a:t> foi desenvolvida e publicado pela </a:t>
            </a:r>
            <a:r>
              <a:rPr lang="pt-BR" i="1" dirty="0" err="1"/>
              <a:t>International</a:t>
            </a:r>
            <a:r>
              <a:rPr lang="pt-BR" i="1" dirty="0"/>
              <a:t> </a:t>
            </a:r>
            <a:r>
              <a:rPr lang="pt-BR" i="1" dirty="0" err="1"/>
              <a:t>Electromechanical</a:t>
            </a:r>
            <a:r>
              <a:rPr lang="pt-BR" i="1" dirty="0"/>
              <a:t> </a:t>
            </a:r>
            <a:r>
              <a:rPr lang="pt-BR" i="1" dirty="0" err="1"/>
              <a:t>Commission</a:t>
            </a:r>
            <a:r>
              <a:rPr lang="pt-BR" i="1" dirty="0"/>
              <a:t> </a:t>
            </a:r>
            <a:r>
              <a:rPr lang="pt-BR" dirty="0"/>
              <a:t>e intitulado </a:t>
            </a:r>
            <a:r>
              <a:rPr lang="pt-BR" i="1" dirty="0" err="1"/>
              <a:t>International</a:t>
            </a:r>
            <a:r>
              <a:rPr lang="pt-BR" i="1" dirty="0"/>
              <a:t> Standard for </a:t>
            </a:r>
            <a:r>
              <a:rPr lang="pt-BR" i="1" dirty="0" err="1"/>
              <a:t>Programmable</a:t>
            </a:r>
            <a:r>
              <a:rPr lang="pt-BR" i="1" dirty="0"/>
              <a:t> </a:t>
            </a:r>
            <a:r>
              <a:rPr lang="pt-BR" i="1" dirty="0" err="1"/>
              <a:t>Controllers</a:t>
            </a:r>
            <a:r>
              <a:rPr lang="pt-BR" i="1" dirty="0"/>
              <a:t> </a:t>
            </a:r>
            <a:r>
              <a:rPr lang="pt-BR" dirty="0"/>
              <a:t>(IEC 1131-3).</a:t>
            </a:r>
          </a:p>
          <a:p>
            <a:pPr algn="just"/>
            <a:r>
              <a:rPr lang="pt-BR" dirty="0"/>
              <a:t>Linguagem gráficas: </a:t>
            </a:r>
          </a:p>
          <a:p>
            <a:pPr lvl="1" algn="just"/>
            <a:r>
              <a:rPr lang="pt-BR" b="1" dirty="0"/>
              <a:t>Diagrama de lógica </a:t>
            </a:r>
            <a:r>
              <a:rPr lang="pt-BR" b="1" i="1" dirty="0" err="1"/>
              <a:t>Ladder</a:t>
            </a:r>
            <a:r>
              <a:rPr lang="pt-BR" dirty="0"/>
              <a:t>: mais amplamente utilizado;</a:t>
            </a:r>
          </a:p>
          <a:p>
            <a:pPr lvl="1" algn="just"/>
            <a:r>
              <a:rPr lang="pt-BR" b="1" dirty="0"/>
              <a:t>Diagrama de blocos de funções</a:t>
            </a:r>
            <a:r>
              <a:rPr lang="pt-BR" dirty="0"/>
              <a:t>: instruções compostas de blocos que transformam os sinais de entrada para os sinais de saída desejados;</a:t>
            </a:r>
          </a:p>
          <a:p>
            <a:pPr lvl="1" algn="just"/>
            <a:r>
              <a:rPr lang="pt-BR" b="1" dirty="0"/>
              <a:t>Diagrama de funções sequenciais (</a:t>
            </a:r>
            <a:r>
              <a:rPr lang="pt-BR" b="1" i="1" dirty="0" err="1"/>
              <a:t>Grafcet</a:t>
            </a:r>
            <a:r>
              <a:rPr lang="pt-BR" b="1" dirty="0"/>
              <a:t>)</a:t>
            </a:r>
            <a:r>
              <a:rPr lang="pt-BR" dirty="0"/>
              <a:t>: fornece os meios para estruturar um programa em um conjunto de etapas separadas por transições.</a:t>
            </a:r>
          </a:p>
          <a:p>
            <a:pPr algn="just"/>
            <a:r>
              <a:rPr lang="pt-BR" dirty="0"/>
              <a:t>Linguagens textuais:</a:t>
            </a:r>
          </a:p>
          <a:p>
            <a:pPr lvl="1" algn="just"/>
            <a:r>
              <a:rPr lang="pt-BR" b="1" dirty="0"/>
              <a:t>Lista de instruções</a:t>
            </a:r>
            <a:r>
              <a:rPr lang="pt-BR" dirty="0"/>
              <a:t>: linguagem de programação de baixo nível;</a:t>
            </a:r>
          </a:p>
          <a:p>
            <a:pPr lvl="1" algn="just"/>
            <a:r>
              <a:rPr lang="pt-BR" b="1" dirty="0"/>
              <a:t>Texto estruturado</a:t>
            </a:r>
            <a:r>
              <a:rPr lang="pt-BR" dirty="0"/>
              <a:t>: linguagem de programação de alto nível.</a:t>
            </a:r>
          </a:p>
        </p:txBody>
      </p:sp>
    </p:spTree>
    <p:extLst>
      <p:ext uri="{BB962C8B-B14F-4D97-AF65-F5344CB8AC3E}">
        <p14:creationId xmlns:p14="http://schemas.microsoft.com/office/powerpoint/2010/main" val="1792448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Ladder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Linguagem mais difundida e encontrada em quase todos os </a:t>
            </a:r>
            <a:r>
              <a:rPr lang="pt-BR" dirty="0" err="1"/>
              <a:t>CLPs</a:t>
            </a:r>
            <a:r>
              <a:rPr lang="pt-BR" dirty="0"/>
              <a:t>;</a:t>
            </a:r>
          </a:p>
          <a:p>
            <a:pPr algn="just"/>
            <a:r>
              <a:rPr lang="pt-BR" dirty="0"/>
              <a:t>A programação é feita por meio da inserção do componente apropriado nos degraus (linhas). Os componente são de dois tipos básicos:</a:t>
            </a:r>
          </a:p>
          <a:p>
            <a:pPr lvl="1" algn="just"/>
            <a:r>
              <a:rPr lang="pt-BR" dirty="0"/>
              <a:t>Contatos;</a:t>
            </a:r>
          </a:p>
          <a:p>
            <a:pPr lvl="1" algn="just"/>
            <a:r>
              <a:rPr lang="pt-BR" dirty="0"/>
              <a:t>Bobinas.</a:t>
            </a:r>
          </a:p>
          <a:p>
            <a:pPr algn="just"/>
            <a:r>
              <a:rPr lang="pt-BR" dirty="0"/>
              <a:t>Exemplo: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5162550"/>
            <a:ext cx="5684744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33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Diagrama de blocos sequenciais (SFC)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Conhecido como </a:t>
            </a:r>
            <a:r>
              <a:rPr lang="pt-BR" i="1" dirty="0"/>
              <a:t>Sequencial </a:t>
            </a:r>
            <a:r>
              <a:rPr lang="pt-BR" i="1" dirty="0" err="1"/>
              <a:t>Function</a:t>
            </a:r>
            <a:r>
              <a:rPr lang="pt-BR" i="1" dirty="0"/>
              <a:t> Chart </a:t>
            </a:r>
            <a:r>
              <a:rPr lang="pt-BR" dirty="0"/>
              <a:t>(GRAFCET);</a:t>
            </a:r>
          </a:p>
          <a:p>
            <a:pPr algn="just"/>
            <a:r>
              <a:rPr lang="pt-BR" dirty="0"/>
              <a:t>Permite a descrição de ações sequenciais;</a:t>
            </a:r>
          </a:p>
          <a:p>
            <a:pPr algn="just"/>
            <a:r>
              <a:rPr lang="pt-BR" dirty="0"/>
              <a:t>Os elementos do SFC são:</a:t>
            </a:r>
          </a:p>
          <a:p>
            <a:pPr lvl="1" algn="just"/>
            <a:r>
              <a:rPr lang="pt-BR" b="1" dirty="0"/>
              <a:t>Etapas</a:t>
            </a:r>
            <a:r>
              <a:rPr lang="pt-BR" dirty="0"/>
              <a:t>: associadas as </a:t>
            </a:r>
            <a:r>
              <a:rPr lang="pt-BR" b="1" dirty="0"/>
              <a:t>ações</a:t>
            </a:r>
            <a:r>
              <a:rPr lang="pt-BR" dirty="0"/>
              <a:t>;</a:t>
            </a:r>
          </a:p>
          <a:p>
            <a:pPr lvl="1" algn="just"/>
            <a:r>
              <a:rPr lang="pt-BR" b="1" dirty="0"/>
              <a:t>Transições</a:t>
            </a:r>
            <a:r>
              <a:rPr lang="pt-BR" dirty="0"/>
              <a:t>: associadas as </a:t>
            </a:r>
            <a:r>
              <a:rPr lang="pt-BR" b="1" dirty="0"/>
              <a:t>condições</a:t>
            </a:r>
            <a:r>
              <a:rPr lang="pt-BR" dirty="0"/>
              <a:t>;</a:t>
            </a:r>
          </a:p>
          <a:p>
            <a:pPr lvl="1" algn="just"/>
            <a:r>
              <a:rPr lang="pt-BR" b="1" dirty="0"/>
              <a:t>Ligações</a:t>
            </a:r>
            <a:r>
              <a:rPr lang="pt-BR" dirty="0"/>
              <a:t> </a:t>
            </a:r>
            <a:r>
              <a:rPr lang="pt-BR" b="1" dirty="0"/>
              <a:t>Orientadas</a:t>
            </a:r>
            <a:r>
              <a:rPr lang="pt-BR" dirty="0"/>
              <a:t>: conectam as etapas as transições às transições, e estas as etapas.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362" y="4037526"/>
            <a:ext cx="1819275" cy="243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11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blocos de funções (FBD)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Popular na Europa;</a:t>
            </a:r>
          </a:p>
          <a:p>
            <a:pPr algn="just"/>
            <a:r>
              <a:rPr lang="pt-BR" dirty="0"/>
              <a:t>Os elementos são expressos por blocos interligados;</a:t>
            </a:r>
          </a:p>
          <a:p>
            <a:pPr algn="just"/>
            <a:r>
              <a:rPr lang="pt-BR" dirty="0"/>
              <a:t>Os blocos são construídos utilizando a linguagem de texto estruturado;</a:t>
            </a:r>
          </a:p>
          <a:p>
            <a:pPr algn="just"/>
            <a:r>
              <a:rPr lang="pt-BR" dirty="0"/>
              <a:t>Há uma nova norma inspirada nestes elementos a IEC 61499.</a:t>
            </a:r>
          </a:p>
          <a:p>
            <a:pPr algn="just"/>
            <a:r>
              <a:rPr lang="pt-BR" dirty="0"/>
              <a:t>Exemplo: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5" y="4857749"/>
            <a:ext cx="3778202" cy="208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51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instruções (IL)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Inspirada em Assembly;</a:t>
            </a:r>
          </a:p>
          <a:p>
            <a:pPr algn="just"/>
            <a:r>
              <a:rPr lang="pt-BR" dirty="0"/>
              <a:t>Puramente sequencial;</a:t>
            </a:r>
          </a:p>
          <a:p>
            <a:pPr algn="just"/>
            <a:r>
              <a:rPr lang="pt-BR" dirty="0"/>
              <a:t>Cada instrução possui um operador e um ou mais operandos separados por vírgula;</a:t>
            </a:r>
          </a:p>
          <a:p>
            <a:pPr algn="just"/>
            <a:r>
              <a:rPr lang="pt-BR" dirty="0"/>
              <a:t>Indicada para </a:t>
            </a:r>
            <a:r>
              <a:rPr lang="pt-BR" dirty="0" err="1"/>
              <a:t>CLPs</a:t>
            </a:r>
            <a:r>
              <a:rPr lang="pt-BR" dirty="0"/>
              <a:t> de pequeno porte.</a:t>
            </a:r>
          </a:p>
          <a:p>
            <a:pPr algn="just"/>
            <a:r>
              <a:rPr lang="pt-BR" dirty="0"/>
              <a:t>Exemplo: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162" y="4895850"/>
            <a:ext cx="2499220" cy="12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40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Texto estruturado (ST)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Linguagem textual de alto nível;</a:t>
            </a:r>
          </a:p>
          <a:p>
            <a:pPr algn="just"/>
            <a:r>
              <a:rPr lang="pt-BR" dirty="0"/>
              <a:t>Inspirada em Pascal;</a:t>
            </a:r>
          </a:p>
          <a:p>
            <a:pPr algn="just"/>
            <a:r>
              <a:rPr lang="pt-BR" dirty="0"/>
              <a:t>Excelente para definir blocos de funções;</a:t>
            </a:r>
          </a:p>
          <a:p>
            <a:pPr algn="just"/>
            <a:r>
              <a:rPr lang="pt-BR" dirty="0"/>
              <a:t>Exemplo: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2" y="4495800"/>
            <a:ext cx="3745706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60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 err="1"/>
              <a:t>IDEs</a:t>
            </a:r>
            <a:r>
              <a:rPr lang="pt-BR" dirty="0"/>
              <a:t> de programação para </a:t>
            </a:r>
            <a:r>
              <a:rPr lang="pt-BR" dirty="0" err="1"/>
              <a:t>CLPs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0363"/>
            <a:ext cx="10515600" cy="564637"/>
          </a:xfrm>
        </p:spPr>
        <p:txBody>
          <a:bodyPr>
            <a:normAutofit/>
          </a:bodyPr>
          <a:lstStyle/>
          <a:p>
            <a:pPr algn="just"/>
            <a:r>
              <a:rPr lang="pt-BR" sz="3200" dirty="0" err="1"/>
              <a:t>RSLogix</a:t>
            </a:r>
            <a:r>
              <a:rPr lang="pt-BR" sz="3200" dirty="0"/>
              <a:t> 500</a:t>
            </a:r>
          </a:p>
        </p:txBody>
      </p:sp>
      <p:pic>
        <p:nvPicPr>
          <p:cNvPr id="1026" name="Picture 2" descr="Resultado de imagem para rslogix 500 interfa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623" y="1905000"/>
            <a:ext cx="6594318" cy="482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536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 err="1"/>
              <a:t>IDEs</a:t>
            </a:r>
            <a:r>
              <a:rPr lang="pt-BR" dirty="0"/>
              <a:t> de programação para </a:t>
            </a:r>
            <a:r>
              <a:rPr lang="pt-BR" dirty="0" err="1"/>
              <a:t>CLPs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0363"/>
            <a:ext cx="10515600" cy="564637"/>
          </a:xfrm>
        </p:spPr>
        <p:txBody>
          <a:bodyPr>
            <a:normAutofit/>
          </a:bodyPr>
          <a:lstStyle/>
          <a:p>
            <a:pPr algn="just"/>
            <a:r>
              <a:rPr lang="pt-BR" sz="3200" dirty="0" err="1"/>
              <a:t>RSLogix</a:t>
            </a:r>
            <a:r>
              <a:rPr lang="pt-BR" sz="3200" dirty="0"/>
              <a:t> 5000</a:t>
            </a:r>
          </a:p>
        </p:txBody>
      </p:sp>
      <p:pic>
        <p:nvPicPr>
          <p:cNvPr id="2050" name="Picture 2" descr="Resultado de imagem para rslogix 5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012" y="1905000"/>
            <a:ext cx="7903975" cy="493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110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 err="1"/>
              <a:t>IDEs</a:t>
            </a:r>
            <a:r>
              <a:rPr lang="pt-BR" dirty="0"/>
              <a:t> de programação para </a:t>
            </a:r>
            <a:r>
              <a:rPr lang="pt-BR" dirty="0" err="1"/>
              <a:t>CLPs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0363"/>
            <a:ext cx="10515600" cy="564637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STEP 7</a:t>
            </a:r>
          </a:p>
        </p:txBody>
      </p:sp>
      <p:pic>
        <p:nvPicPr>
          <p:cNvPr id="3074" name="Picture 2" descr="Imagem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60" y="1905000"/>
            <a:ext cx="8365279" cy="4720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7205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5563"/>
          </a:xfrm>
        </p:spPr>
        <p:txBody>
          <a:bodyPr/>
          <a:lstStyle/>
          <a:p>
            <a:r>
              <a:rPr lang="pt-BR" dirty="0"/>
              <a:t>Norma IEC 61499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3675"/>
            <a:ext cx="10515600" cy="539432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3200" dirty="0"/>
              <a:t>Norma </a:t>
            </a:r>
            <a:r>
              <a:rPr lang="pt-BR" sz="3200" b="1" dirty="0"/>
              <a:t>IEC 61499 </a:t>
            </a:r>
            <a:r>
              <a:rPr lang="pt-BR" sz="3200" dirty="0"/>
              <a:t>foi publicada em 2005 e é baseada na norma IEC 61131, criada para uniformizar a programação de CLP.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Criada para garantir três requisitos principais:</a:t>
            </a:r>
          </a:p>
          <a:p>
            <a:pPr lvl="1" algn="just"/>
            <a:r>
              <a:rPr lang="pt-BR" sz="3200" b="1" dirty="0"/>
              <a:t>Portabilidade</a:t>
            </a:r>
            <a:r>
              <a:rPr lang="pt-BR" sz="3200" dirty="0"/>
              <a:t>: Capacidade de executar o mesmo código em diferentes dispositivos e de alterá-lo em diferentes ferramentas de edição;</a:t>
            </a:r>
          </a:p>
          <a:p>
            <a:pPr lvl="1" algn="just"/>
            <a:r>
              <a:rPr lang="pt-BR" sz="3200" b="1" dirty="0"/>
              <a:t>Configurabilidade</a:t>
            </a:r>
            <a:r>
              <a:rPr lang="pt-BR" sz="3200" dirty="0"/>
              <a:t>: Capacidade de alterar dinamicamente os dispositivos e os componentes de software através de múltiplas ferramentas de software;</a:t>
            </a:r>
          </a:p>
          <a:p>
            <a:pPr lvl="1" algn="just"/>
            <a:r>
              <a:rPr lang="pt-BR" sz="3200" b="1" dirty="0"/>
              <a:t>Interoperabilidade</a:t>
            </a:r>
            <a:r>
              <a:rPr lang="pt-BR" sz="3200" dirty="0"/>
              <a:t>: Capacidade dos dispositivos de operarem juntos para atender aos requisitos do sistema.</a:t>
            </a:r>
          </a:p>
          <a:p>
            <a:pPr lvl="1" algn="just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35010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IEC 61499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94325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Define uma linguagem visual que se baseia em blocos de funções (uma abstração de código)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Existem três tipos de blocos de funções na norma IEC 61499:</a:t>
            </a:r>
          </a:p>
          <a:p>
            <a:pPr lvl="1" algn="just"/>
            <a:r>
              <a:rPr lang="pt-BR" sz="2800" b="1" dirty="0"/>
              <a:t>Basic </a:t>
            </a:r>
            <a:r>
              <a:rPr lang="pt-BR" sz="2800" b="1" dirty="0" err="1"/>
              <a:t>Function</a:t>
            </a:r>
            <a:r>
              <a:rPr lang="pt-BR" sz="2800" b="1" dirty="0"/>
              <a:t> </a:t>
            </a:r>
            <a:r>
              <a:rPr lang="pt-BR" sz="2800" b="1" dirty="0" err="1"/>
              <a:t>Block</a:t>
            </a:r>
            <a:r>
              <a:rPr lang="pt-BR" sz="2800" dirty="0"/>
              <a:t>: Encapsula algoritmos e variáveis;</a:t>
            </a:r>
          </a:p>
          <a:p>
            <a:pPr lvl="1" algn="just"/>
            <a:r>
              <a:rPr lang="pt-BR" sz="2800" b="1" dirty="0"/>
              <a:t>Service Interface </a:t>
            </a:r>
            <a:r>
              <a:rPr lang="pt-BR" sz="2800" b="1" dirty="0" err="1"/>
              <a:t>Function</a:t>
            </a:r>
            <a:r>
              <a:rPr lang="pt-BR" sz="2800" b="1" dirty="0"/>
              <a:t> </a:t>
            </a:r>
            <a:r>
              <a:rPr lang="pt-BR" sz="2800" b="1" dirty="0" err="1"/>
              <a:t>Block</a:t>
            </a:r>
            <a:r>
              <a:rPr lang="pt-BR" sz="2800" dirty="0"/>
              <a:t>: Fornece acesso ao meio externo;</a:t>
            </a:r>
          </a:p>
          <a:p>
            <a:pPr lvl="1" algn="just"/>
            <a:r>
              <a:rPr lang="pt-BR" sz="2800" b="1" dirty="0" err="1"/>
              <a:t>Composite</a:t>
            </a:r>
            <a:r>
              <a:rPr lang="pt-BR" sz="2800" b="1" dirty="0"/>
              <a:t> </a:t>
            </a:r>
            <a:r>
              <a:rPr lang="pt-BR" sz="2800" b="1" dirty="0" err="1"/>
              <a:t>Function</a:t>
            </a:r>
            <a:r>
              <a:rPr lang="pt-BR" sz="2800" b="1" dirty="0"/>
              <a:t> </a:t>
            </a:r>
            <a:r>
              <a:rPr lang="pt-BR" sz="2800" b="1" dirty="0" err="1"/>
              <a:t>Block</a:t>
            </a:r>
            <a:r>
              <a:rPr lang="pt-BR" sz="2800" dirty="0"/>
              <a:t>: Encapsula vários blocos de funções.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As definições do sistema são armazenados no formato </a:t>
            </a:r>
            <a:r>
              <a:rPr lang="pt-BR" sz="3200" i="1" dirty="0" err="1"/>
              <a:t>xml</a:t>
            </a:r>
            <a:r>
              <a:rPr lang="pt-BR" sz="32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43570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IEC 61499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94325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A representação de um bloco de funções é dividida em cabeçalho e corpo, conforme demonstrado na figura abaixo:</a:t>
            </a:r>
          </a:p>
        </p:txBody>
      </p:sp>
      <p:pic>
        <p:nvPicPr>
          <p:cNvPr id="6" name="Espaço Reservado para Conteúdo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160" y="3159233"/>
            <a:ext cx="6145680" cy="356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930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IEC 61499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94325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Bloco de função composto: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437" y="2410674"/>
            <a:ext cx="5953125" cy="422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766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Modos de Operação de um CLP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b="1" dirty="0"/>
              <a:t>Programação</a:t>
            </a:r>
            <a:r>
              <a:rPr lang="pt-BR" sz="3200" dirty="0"/>
              <a:t> (off-line): Não executa nenhum programa de usuário, ficando em modo de espera aguardando novos programas ou alterações dos existente.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b="1" dirty="0"/>
              <a:t>Execução</a:t>
            </a:r>
            <a:r>
              <a:rPr lang="pt-BR" sz="3200" dirty="0"/>
              <a:t> (on-line): O CLP passa a executar o programa do usuário realizando continuamente os ciclos de </a:t>
            </a:r>
            <a:r>
              <a:rPr lang="pt-BR" sz="3200" i="1" dirty="0" err="1"/>
              <a:t>scan</a:t>
            </a:r>
            <a:r>
              <a:rPr lang="pt-BR" sz="3200" dirty="0"/>
              <a:t>. 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b="1" dirty="0"/>
              <a:t>Falha</a:t>
            </a:r>
            <a:r>
              <a:rPr lang="pt-BR" sz="3200" dirty="0"/>
              <a:t>: Comunicação.</a:t>
            </a:r>
          </a:p>
        </p:txBody>
      </p:sp>
    </p:spTree>
    <p:extLst>
      <p:ext uri="{BB962C8B-B14F-4D97-AF65-F5344CB8AC3E}">
        <p14:creationId xmlns:p14="http://schemas.microsoft.com/office/powerpoint/2010/main" val="13069062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Modos de Operação de um CLP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929" y="1886403"/>
            <a:ext cx="8223584" cy="434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108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PC (Computadores pessoais)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432426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No início da década de 1990, os PCs começaram a invadir aplicações anteriormente dominadas pelos </a:t>
            </a:r>
            <a:r>
              <a:rPr lang="pt-BR" dirty="0" err="1"/>
              <a:t>CLPs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PCs passam a estar disponíveis em gabinetes mais robustos e podem ser equipados com cartões de E/S e outros hardwares para se conectar a máquinas e processos.</a:t>
            </a:r>
          </a:p>
          <a:p>
            <a:pPr algn="just"/>
            <a:r>
              <a:rPr lang="pt-BR" dirty="0"/>
              <a:t>Duas abordagens são empregadas nos sistemas de controle baseados em PCs:</a:t>
            </a:r>
          </a:p>
          <a:p>
            <a:pPr lvl="1" algn="just"/>
            <a:r>
              <a:rPr lang="pt-BR" b="1" dirty="0"/>
              <a:t>Lógica </a:t>
            </a:r>
            <a:r>
              <a:rPr lang="pt-BR" b="1" i="1" dirty="0"/>
              <a:t>soft</a:t>
            </a:r>
            <a:r>
              <a:rPr lang="pt-BR" dirty="0"/>
              <a:t>: Os algoritmos de controle são instalados no sistema operacional como programas de alta prioridade.</a:t>
            </a:r>
          </a:p>
          <a:p>
            <a:pPr lvl="1" algn="just"/>
            <a:r>
              <a:rPr lang="pt-BR" b="1" dirty="0"/>
              <a:t>Sistemas críticos de controle em tempo real</a:t>
            </a:r>
            <a:r>
              <a:rPr lang="pt-BR" dirty="0"/>
              <a:t>: O Sistema Operacional executa em tempo real, e o software de controle tem prioridade sobre todos os outros programas.</a:t>
            </a:r>
          </a:p>
        </p:txBody>
      </p:sp>
    </p:spTree>
    <p:extLst>
      <p:ext uri="{BB962C8B-B14F-4D97-AF65-F5344CB8AC3E}">
        <p14:creationId xmlns:p14="http://schemas.microsoft.com/office/powerpoint/2010/main" val="13932040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5563"/>
          </a:xfrm>
        </p:spPr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Microcontrolador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78287"/>
            <a:ext cx="5067300" cy="397545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795" y="2070613"/>
            <a:ext cx="3645909" cy="2101337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6175765" y="2981291"/>
            <a:ext cx="7797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/>
              <a:t>VS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804983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/>
              <a:t>Microcontrolador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249430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CLP: são sistemas </a:t>
            </a:r>
            <a:r>
              <a:rPr lang="pt-BR" sz="3600" dirty="0" err="1"/>
              <a:t>microprocessados</a:t>
            </a:r>
            <a:r>
              <a:rPr lang="pt-BR" sz="3600" dirty="0"/>
              <a:t> que desempenham uma função de controle.</a:t>
            </a:r>
          </a:p>
          <a:p>
            <a:pPr algn="just"/>
            <a:r>
              <a:rPr lang="pt-BR" sz="3600" dirty="0"/>
              <a:t>Existem diversos fabricantes de </a:t>
            </a:r>
            <a:r>
              <a:rPr lang="pt-BR" sz="3600" dirty="0" err="1"/>
              <a:t>CLPs</a:t>
            </a:r>
            <a:r>
              <a:rPr lang="pt-BR" sz="3600" dirty="0"/>
              <a:t> no mercado: </a:t>
            </a:r>
          </a:p>
          <a:p>
            <a:pPr lvl="1" algn="just"/>
            <a:r>
              <a:rPr lang="pt-BR" sz="3200" dirty="0"/>
              <a:t>Siemens;</a:t>
            </a:r>
          </a:p>
          <a:p>
            <a:pPr lvl="1" algn="just"/>
            <a:r>
              <a:rPr lang="pt-BR" sz="3200" dirty="0"/>
              <a:t>Schneider;</a:t>
            </a:r>
          </a:p>
          <a:p>
            <a:pPr lvl="1" algn="just"/>
            <a:r>
              <a:rPr lang="pt-BR" sz="3200" dirty="0"/>
              <a:t>Allen-Bradley;</a:t>
            </a:r>
          </a:p>
          <a:p>
            <a:pPr lvl="1" algn="just"/>
            <a:r>
              <a:rPr lang="pt-BR" sz="3200" dirty="0"/>
              <a:t>Festo;</a:t>
            </a:r>
          </a:p>
          <a:p>
            <a:pPr lvl="1" algn="just"/>
            <a:r>
              <a:rPr lang="pt-BR" sz="3200" dirty="0" err="1"/>
              <a:t>Rockwell</a:t>
            </a:r>
            <a:r>
              <a:rPr lang="pt-BR" sz="3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40605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/>
              <a:t>Microcontrolador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249430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As grandes vantagens na utilização dos </a:t>
            </a:r>
            <a:r>
              <a:rPr lang="pt-BR" sz="3600" dirty="0" err="1"/>
              <a:t>CLPs</a:t>
            </a:r>
            <a:r>
              <a:rPr lang="pt-BR" sz="3600" dirty="0"/>
              <a:t> são sua modularidade, a facilidade de programação em campo e fácil aprendizagem do programa. Por outro lado, seu alto custo o torna inviável para aplicações caseiras ou mais simples.</a:t>
            </a:r>
          </a:p>
        </p:txBody>
      </p:sp>
    </p:spTree>
    <p:extLst>
      <p:ext uri="{BB962C8B-B14F-4D97-AF65-F5344CB8AC3E}">
        <p14:creationId xmlns:p14="http://schemas.microsoft.com/office/powerpoint/2010/main" val="30946339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/>
              <a:t>Microcontrolador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614556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O </a:t>
            </a:r>
            <a:r>
              <a:rPr lang="pt-BR" sz="3600" dirty="0" err="1"/>
              <a:t>microcontrolador</a:t>
            </a:r>
            <a:r>
              <a:rPr lang="pt-BR" sz="3600" dirty="0"/>
              <a:t> é um circuito integrado programável que contém todos os componentes de um computador:</a:t>
            </a:r>
          </a:p>
          <a:p>
            <a:pPr lvl="1" algn="just"/>
            <a:r>
              <a:rPr lang="pt-BR" sz="3200" dirty="0"/>
              <a:t>CPU;</a:t>
            </a:r>
          </a:p>
          <a:p>
            <a:pPr lvl="1" algn="just"/>
            <a:r>
              <a:rPr lang="pt-BR" sz="3200" dirty="0"/>
              <a:t>Memória;</a:t>
            </a:r>
          </a:p>
          <a:p>
            <a:pPr lvl="1" algn="just"/>
            <a:r>
              <a:rPr lang="pt-BR" sz="3200" dirty="0"/>
              <a:t> Portas de entrada e saída;</a:t>
            </a:r>
          </a:p>
          <a:p>
            <a:pPr lvl="1" algn="just"/>
            <a:r>
              <a:rPr lang="pt-BR" sz="3200" dirty="0"/>
              <a:t>Conversores A/D e D/A.</a:t>
            </a:r>
          </a:p>
        </p:txBody>
      </p:sp>
    </p:spTree>
    <p:extLst>
      <p:ext uri="{BB962C8B-B14F-4D97-AF65-F5344CB8AC3E}">
        <p14:creationId xmlns:p14="http://schemas.microsoft.com/office/powerpoint/2010/main" val="41563566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/>
              <a:t>Microcontrolador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614556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Existem diversas linhas de </a:t>
            </a:r>
            <a:r>
              <a:rPr lang="pt-BR" sz="3600" dirty="0" err="1"/>
              <a:t>microcontroladores</a:t>
            </a:r>
            <a:r>
              <a:rPr lang="pt-BR" sz="3600" dirty="0"/>
              <a:t> e entre os principais fabricantes pode-se citar:</a:t>
            </a:r>
          </a:p>
          <a:p>
            <a:pPr lvl="1" algn="just"/>
            <a:r>
              <a:rPr lang="pt-BR" sz="3200" dirty="0"/>
              <a:t>Microchip.</a:t>
            </a:r>
          </a:p>
          <a:p>
            <a:pPr lvl="1" algn="just"/>
            <a:r>
              <a:rPr lang="pt-BR" sz="3200" dirty="0"/>
              <a:t>Texas;</a:t>
            </a:r>
          </a:p>
          <a:p>
            <a:pPr lvl="1" algn="just"/>
            <a:r>
              <a:rPr lang="pt-BR" sz="3200" dirty="0" err="1"/>
              <a:t>Atmel</a:t>
            </a:r>
            <a:r>
              <a:rPr lang="pt-BR" sz="3200" dirty="0"/>
              <a:t>;</a:t>
            </a:r>
          </a:p>
          <a:p>
            <a:pPr lvl="1" algn="just"/>
            <a:r>
              <a:rPr lang="pt-BR" sz="3200" dirty="0" err="1"/>
              <a:t>Renesas</a:t>
            </a:r>
            <a:r>
              <a:rPr lang="pt-BR" sz="3200" dirty="0"/>
              <a:t>;</a:t>
            </a:r>
          </a:p>
          <a:p>
            <a:pPr lvl="1" algn="just"/>
            <a:r>
              <a:rPr lang="pt-BR" sz="3200" dirty="0"/>
              <a:t>Intel;</a:t>
            </a:r>
          </a:p>
          <a:p>
            <a:pPr lvl="1" algn="just"/>
            <a:r>
              <a:rPr lang="pt-BR" sz="3200" dirty="0"/>
              <a:t>Motorola.</a:t>
            </a:r>
          </a:p>
        </p:txBody>
      </p:sp>
    </p:spTree>
    <p:extLst>
      <p:ext uri="{BB962C8B-B14F-4D97-AF65-F5344CB8AC3E}">
        <p14:creationId xmlns:p14="http://schemas.microsoft.com/office/powerpoint/2010/main" val="12313812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/>
              <a:t>Microcontrolador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614556"/>
          </a:xfrm>
        </p:spPr>
        <p:txBody>
          <a:bodyPr>
            <a:normAutofit/>
          </a:bodyPr>
          <a:lstStyle/>
          <a:p>
            <a:pPr algn="just"/>
            <a:r>
              <a:rPr lang="pt-BR" dirty="0" err="1"/>
              <a:t>Arduino</a:t>
            </a:r>
            <a:r>
              <a:rPr lang="pt-BR" dirty="0"/>
              <a:t>: utiliza o </a:t>
            </a:r>
            <a:r>
              <a:rPr lang="pt-BR" dirty="0" err="1"/>
              <a:t>microcontrolador</a:t>
            </a:r>
            <a:r>
              <a:rPr lang="pt-BR" dirty="0"/>
              <a:t> AVR da </a:t>
            </a:r>
            <a:r>
              <a:rPr lang="pt-BR" dirty="0" err="1"/>
              <a:t>Atmel</a:t>
            </a:r>
            <a:r>
              <a:rPr lang="pt-BR" dirty="0"/>
              <a:t>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087" y="2519362"/>
            <a:ext cx="6641933" cy="48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624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/>
              <a:t>Microcontrolador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614556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Dificuldades na utilização dos </a:t>
            </a:r>
            <a:r>
              <a:rPr lang="pt-BR" dirty="0" err="1"/>
              <a:t>microcontroladores</a:t>
            </a:r>
            <a:r>
              <a:rPr lang="pt-BR" dirty="0"/>
              <a:t>:</a:t>
            </a:r>
          </a:p>
          <a:p>
            <a:pPr lvl="1" algn="just"/>
            <a:r>
              <a:rPr lang="pt-BR" dirty="0"/>
              <a:t>Código textual (Assembly ou C);</a:t>
            </a:r>
          </a:p>
          <a:p>
            <a:pPr lvl="1" algn="just"/>
            <a:r>
              <a:rPr lang="pt-BR" dirty="0"/>
              <a:t>Código escrito para um modelo de um fabricante não funciona no modelo de outro, existindo até mesmo incompatibilidade entre diferentes modelos de um mesmo fabricante;</a:t>
            </a:r>
          </a:p>
          <a:p>
            <a:pPr lvl="1" algn="just"/>
            <a:r>
              <a:rPr lang="pt-BR" dirty="0"/>
              <a:t>Exigem do usuário conhecimentos de sistemas digitais, componentes eletrônicos, projeto de hardware,  montagem e programação.</a:t>
            </a:r>
          </a:p>
          <a:p>
            <a:pPr algn="just"/>
            <a:r>
              <a:rPr lang="pt-BR" dirty="0"/>
              <a:t>Embora a aplicação de um </a:t>
            </a:r>
            <a:r>
              <a:rPr lang="pt-BR" dirty="0" err="1"/>
              <a:t>microcontrolador</a:t>
            </a:r>
            <a:r>
              <a:rPr lang="pt-BR" dirty="0"/>
              <a:t> em um projeto qualquer exija uma certa dedicação e estudo, por outro lado seu baixo custo facilita que o mesmo possa ser aplicado desde projetos caseiros até projetos de grande porte.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70498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1325563"/>
          </a:xfrm>
        </p:spPr>
        <p:txBody>
          <a:bodyPr/>
          <a:lstStyle/>
          <a:p>
            <a:r>
              <a:rPr lang="pt-BR" dirty="0"/>
              <a:t>CLP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Microcontrolador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35270"/>
              </p:ext>
            </p:extLst>
          </p:nvPr>
        </p:nvGraphicFramePr>
        <p:xfrm>
          <a:off x="838200" y="1328738"/>
          <a:ext cx="10515600" cy="6577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559">
                <a:tc gridSpan="3">
                  <a:txBody>
                    <a:bodyPr/>
                    <a:lstStyle/>
                    <a:p>
                      <a:r>
                        <a:rPr lang="pt-BR" dirty="0"/>
                        <a:t>Comparativo entre </a:t>
                      </a:r>
                      <a:r>
                        <a:rPr lang="pt-BR" dirty="0" err="1"/>
                        <a:t>CLPs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Microcontroladores</a:t>
                      </a:r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59">
                <a:tc>
                  <a:txBody>
                    <a:bodyPr/>
                    <a:lstStyle/>
                    <a:p>
                      <a:r>
                        <a:rPr lang="pt-BR" b="1" dirty="0"/>
                        <a:t>Itens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CLP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 err="1"/>
                        <a:t>Microcontrolador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559">
                <a:tc>
                  <a:txBody>
                    <a:bodyPr/>
                    <a:lstStyle/>
                    <a:p>
                      <a:r>
                        <a:rPr lang="pt-BR" b="1" dirty="0"/>
                        <a:t>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Projetos industriais.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Projetos caseiros</a:t>
                      </a:r>
                      <a:r>
                        <a:rPr lang="pt-BR" baseline="0" dirty="0"/>
                        <a:t> e industriais de pequeno, médio e grande porte.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baseline="0" dirty="0"/>
                        <a:t>Indicado para projetos com funções específicas.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59">
                <a:tc>
                  <a:txBody>
                    <a:bodyPr/>
                    <a:lstStyle/>
                    <a:p>
                      <a:r>
                        <a:rPr lang="pt-BR" b="1" dirty="0"/>
                        <a:t>Configuração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Fácil configuração.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Configuração complexa,</a:t>
                      </a:r>
                      <a:r>
                        <a:rPr lang="pt-BR" baseline="0" dirty="0"/>
                        <a:t> exigindo o domínio do hardware e do software.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559">
                <a:tc>
                  <a:txBody>
                    <a:bodyPr/>
                    <a:lstStyle/>
                    <a:p>
                      <a:r>
                        <a:rPr lang="pt-BR" b="1" dirty="0"/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Alto custo.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Baixo custo.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59">
                <a:tc>
                  <a:txBody>
                    <a:bodyPr/>
                    <a:lstStyle/>
                    <a:p>
                      <a:r>
                        <a:rPr lang="pt-BR" b="1" dirty="0"/>
                        <a:t>Aprendizagem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Fácil aprendizagem, exigindo-se apenas conhecimentos de lógica booleana e comandos elétricos.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Difícil aprendizagem,</a:t>
                      </a:r>
                      <a:r>
                        <a:rPr lang="pt-BR" baseline="0" dirty="0"/>
                        <a:t> exigindo o conhecimento de sistemas digitais, programação, eletrônica e eletricidade.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559">
                <a:tc>
                  <a:txBody>
                    <a:bodyPr/>
                    <a:lstStyle/>
                    <a:p>
                      <a:r>
                        <a:rPr lang="pt-BR" b="1" dirty="0"/>
                        <a:t>Empregabilidade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Grande empregabilidade,</a:t>
                      </a:r>
                      <a:r>
                        <a:rPr lang="pt-BR" baseline="0" dirty="0"/>
                        <a:t> sobretudo em industrias.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dirty="0"/>
                        <a:t>Baixa empregabilidade, contudo, oferece melhores salários além da possibilidade</a:t>
                      </a:r>
                      <a:r>
                        <a:rPr lang="pt-BR" baseline="0" dirty="0"/>
                        <a:t> do projetista trabalhar por conta.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534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7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614556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GROOVER, M. Automação industrial e sistemas de manufatura. 3 ed. São Paulo : Pearson </a:t>
            </a:r>
            <a:r>
              <a:rPr lang="pt-BR" dirty="0" err="1"/>
              <a:t>Education</a:t>
            </a:r>
            <a:r>
              <a:rPr lang="pt-BR" dirty="0"/>
              <a:t>, 2014;</a:t>
            </a:r>
          </a:p>
          <a:p>
            <a:pPr algn="just"/>
            <a:r>
              <a:rPr lang="pt-BR" dirty="0"/>
              <a:t>Douglas </a:t>
            </a:r>
            <a:r>
              <a:rPr lang="pt-BR" dirty="0" err="1"/>
              <a:t>Wildgrube</a:t>
            </a:r>
            <a:r>
              <a:rPr lang="pt-BR" dirty="0"/>
              <a:t> </a:t>
            </a:r>
            <a:r>
              <a:rPr lang="pt-BR" dirty="0" err="1"/>
              <a:t>Bertol</a:t>
            </a:r>
            <a:r>
              <a:rPr lang="pt-BR" dirty="0"/>
              <a:t>, Disciplina: Automação, Disponível em: &lt;http://www.joinville.udesc.br/portal//professores/bertol/index.php?pg=materiais&amp;cat=disc&gt;;</a:t>
            </a:r>
          </a:p>
          <a:p>
            <a:pPr algn="just"/>
            <a:r>
              <a:rPr lang="pt-BR" dirty="0"/>
              <a:t>PINTO, L. I. “ICARU-FB: Uma infraestrutura de software aderente a norma IEC 61499”, Dissertação (Mestrado), Universidade do Estado de Santa Catarina (UDESC), Santa Catarina, 2014. Disponível em: &lt; http://tede.udesc.br/bitstream/handle/2042/1/Leandro%20Israel%20Pinto.pdf &gt;.</a:t>
            </a:r>
          </a:p>
        </p:txBody>
      </p:sp>
    </p:spTree>
    <p:extLst>
      <p:ext uri="{BB962C8B-B14F-4D97-AF65-F5344CB8AC3E}">
        <p14:creationId xmlns:p14="http://schemas.microsoft.com/office/powerpoint/2010/main" val="2361510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3654</Words>
  <Application>Microsoft Office PowerPoint</Application>
  <PresentationFormat>Widescreen</PresentationFormat>
  <Paragraphs>467</Paragraphs>
  <Slides>57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Tema do Office</vt:lpstr>
      <vt:lpstr>Controlador Lógico Programável - CLP</vt:lpstr>
      <vt:lpstr>Agenda</vt:lpstr>
      <vt:lpstr>Definição de CLP</vt:lpstr>
      <vt:lpstr>Histórico</vt:lpstr>
      <vt:lpstr>Histórico</vt:lpstr>
      <vt:lpstr>Histórico</vt:lpstr>
      <vt:lpstr>Histórico</vt:lpstr>
      <vt:lpstr>Histórico</vt:lpstr>
      <vt:lpstr>Histórico</vt:lpstr>
      <vt:lpstr>Histórico</vt:lpstr>
      <vt:lpstr>Histórico</vt:lpstr>
      <vt:lpstr>Histórico</vt:lpstr>
      <vt:lpstr>Histórico</vt:lpstr>
      <vt:lpstr>Histórico</vt:lpstr>
      <vt:lpstr>Componentes dos CLP</vt:lpstr>
      <vt:lpstr>Classificação dos CLPs</vt:lpstr>
      <vt:lpstr>Classificação dos CLPs</vt:lpstr>
      <vt:lpstr>Classificação dos CLPs - Compacto</vt:lpstr>
      <vt:lpstr>Classificação dos CLPs - Compacto</vt:lpstr>
      <vt:lpstr>Classificação dos CLPs - Modular</vt:lpstr>
      <vt:lpstr>Classificação dos CLPs – Compacto vs Modular</vt:lpstr>
      <vt:lpstr>Classificação dos CLPs - Modular</vt:lpstr>
      <vt:lpstr>Classificação dos CLPs - Modular</vt:lpstr>
      <vt:lpstr>Ciclo de operação do CLP</vt:lpstr>
      <vt:lpstr>Ciclo de operação do CLP</vt:lpstr>
      <vt:lpstr>Ciclo de operação do CLP</vt:lpstr>
      <vt:lpstr>Tipo de variáveis</vt:lpstr>
      <vt:lpstr>Tipo de variáveis</vt:lpstr>
      <vt:lpstr>Tipo de variáveis</vt:lpstr>
      <vt:lpstr>Tipo de variáveis</vt:lpstr>
      <vt:lpstr>Tipo de variáveis</vt:lpstr>
      <vt:lpstr>Tipo de variáveis</vt:lpstr>
      <vt:lpstr>Programando o CLP</vt:lpstr>
      <vt:lpstr>Ladder</vt:lpstr>
      <vt:lpstr>Diagrama de blocos sequenciais (SFC)</vt:lpstr>
      <vt:lpstr>Diagrama de blocos de funções (FBD)</vt:lpstr>
      <vt:lpstr>Lista de instruções (IL)</vt:lpstr>
      <vt:lpstr>Texto estruturado (ST)</vt:lpstr>
      <vt:lpstr>IDEs de programação para CLPs</vt:lpstr>
      <vt:lpstr>IDEs de programação para CLPs</vt:lpstr>
      <vt:lpstr>IDEs de programação para CLPs</vt:lpstr>
      <vt:lpstr>Norma IEC 61499</vt:lpstr>
      <vt:lpstr>Norma IEC 61499</vt:lpstr>
      <vt:lpstr>Norma IEC 61499</vt:lpstr>
      <vt:lpstr>Norma IEC 61499</vt:lpstr>
      <vt:lpstr>Modos de Operação de um CLP</vt:lpstr>
      <vt:lpstr>Modos de Operação de um CLP</vt:lpstr>
      <vt:lpstr>CLP vs PC (Computadores pessoais)</vt:lpstr>
      <vt:lpstr>CLP vs Microcontrolador</vt:lpstr>
      <vt:lpstr>CLP vs Microcontrolador</vt:lpstr>
      <vt:lpstr>CLP vs Microcontrolador</vt:lpstr>
      <vt:lpstr>CLP vs Microcontrolador</vt:lpstr>
      <vt:lpstr>CLP vs Microcontrolador</vt:lpstr>
      <vt:lpstr>CLP vs Microcontrolador</vt:lpstr>
      <vt:lpstr>CLP vs Microcontrolador</vt:lpstr>
      <vt:lpstr>CLP vs Microcontrolador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hgalo</dc:creator>
  <cp:lastModifiedBy>Roberto Rosso</cp:lastModifiedBy>
  <cp:revision>255</cp:revision>
  <cp:lastPrinted>2017-06-24T20:03:20Z</cp:lastPrinted>
  <dcterms:created xsi:type="dcterms:W3CDTF">2017-05-17T12:47:39Z</dcterms:created>
  <dcterms:modified xsi:type="dcterms:W3CDTF">2017-06-24T20:21:25Z</dcterms:modified>
</cp:coreProperties>
</file>