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58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136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4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03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88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449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977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63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27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234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224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95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42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path path="circle">
            <a:fillToRect l="100000" t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0169-5750-4122-B735-3F2CFC5FD332}" type="datetimeFigureOut">
              <a:rPr lang="pt-BR" smtClean="0"/>
              <a:t>14/11/2017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E823A-40EF-4731-870B-24D2B61E7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013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Controle em Malha Aberta e em Malha Fechada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4268688"/>
            <a:ext cx="6400800" cy="1752600"/>
          </a:xfrm>
        </p:spPr>
        <p:txBody>
          <a:bodyPr>
            <a:normAutofit/>
          </a:bodyPr>
          <a:lstStyle/>
          <a:p>
            <a:r>
              <a:rPr lang="pt-BR" sz="2000" dirty="0" smtClean="0">
                <a:solidFill>
                  <a:schemeClr val="tx1"/>
                </a:solidFill>
              </a:rPr>
              <a:t>Disciplina de Automação e Controle</a:t>
            </a:r>
            <a:br>
              <a:rPr lang="pt-BR" sz="2000" dirty="0" smtClean="0">
                <a:solidFill>
                  <a:schemeClr val="tx1"/>
                </a:solidFill>
              </a:rPr>
            </a:br>
            <a:r>
              <a:rPr lang="pt-BR" sz="2000" dirty="0" smtClean="0">
                <a:solidFill>
                  <a:schemeClr val="tx1"/>
                </a:solidFill>
              </a:rPr>
              <a:t>DCC- UDESC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07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Controle em Malha </a:t>
            </a:r>
            <a:r>
              <a:rPr lang="pt-BR" b="1" dirty="0" smtClean="0"/>
              <a:t>Fechada 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80928"/>
          </a:xfrm>
        </p:spPr>
        <p:txBody>
          <a:bodyPr/>
          <a:lstStyle/>
          <a:p>
            <a:r>
              <a:rPr lang="pt-BR" dirty="0" smtClean="0"/>
              <a:t>Também conhecido com controle por realimentação</a:t>
            </a:r>
          </a:p>
          <a:p>
            <a:r>
              <a:rPr lang="pt-BR" dirty="0" smtClean="0"/>
              <a:t>Compara uma variável de saída com um parâmetro de entrada se houver diferença tenta fazer com que fique em conformidade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800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Controle em Malha Fechada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Elementos básicos</a:t>
            </a:r>
          </a:p>
          <a:p>
            <a:pPr lvl="1"/>
            <a:r>
              <a:rPr lang="pt-BR" dirty="0" smtClean="0"/>
              <a:t>Parâmetro de entrada</a:t>
            </a:r>
          </a:p>
          <a:p>
            <a:pPr lvl="1"/>
            <a:r>
              <a:rPr lang="pt-BR" dirty="0" smtClean="0"/>
              <a:t>Processo</a:t>
            </a:r>
          </a:p>
          <a:p>
            <a:pPr lvl="1"/>
            <a:r>
              <a:rPr lang="pt-BR" dirty="0" smtClean="0"/>
              <a:t>Variável de saída</a:t>
            </a:r>
          </a:p>
          <a:p>
            <a:pPr lvl="1"/>
            <a:r>
              <a:rPr lang="pt-BR" dirty="0" smtClean="0"/>
              <a:t>Sensor de realimentação</a:t>
            </a:r>
          </a:p>
          <a:p>
            <a:pPr lvl="1"/>
            <a:r>
              <a:rPr lang="pt-BR" dirty="0" smtClean="0"/>
              <a:t>Controlador</a:t>
            </a:r>
          </a:p>
          <a:p>
            <a:pPr lvl="1"/>
            <a:r>
              <a:rPr lang="pt-BR" dirty="0" smtClean="0"/>
              <a:t>Atuador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8849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 em </a:t>
            </a:r>
            <a:r>
              <a:rPr lang="pt-BR" dirty="0"/>
              <a:t>M</a:t>
            </a:r>
            <a:r>
              <a:rPr lang="pt-BR" dirty="0" smtClean="0"/>
              <a:t>alha Fechada</a:t>
            </a:r>
            <a:endParaRPr lang="pt-BR" dirty="0"/>
          </a:p>
        </p:txBody>
      </p:sp>
      <p:pic>
        <p:nvPicPr>
          <p:cNvPr id="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276872"/>
            <a:ext cx="7086715" cy="2247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347864" y="4797152"/>
            <a:ext cx="26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Sistema por realimentação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34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 em Malha Fechada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parâmetro de entrada é muitas vezes chamado de valor desejado</a:t>
            </a:r>
          </a:p>
          <a:p>
            <a:r>
              <a:rPr lang="pt-BR" dirty="0" smtClean="0"/>
              <a:t>O processo é a operação que desejamos controlar</a:t>
            </a:r>
          </a:p>
          <a:p>
            <a:r>
              <a:rPr lang="pt-BR" dirty="0" smtClean="0"/>
              <a:t>O sensor mede a variável de saída</a:t>
            </a:r>
          </a:p>
          <a:p>
            <a:r>
              <a:rPr lang="pt-BR" dirty="0" smtClean="0"/>
              <a:t>O controlador compara a saída e entrada e faz os ajustes para o atuador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262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 em Malha Fechada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6"/>
          </a:xfrm>
        </p:spPr>
        <p:txBody>
          <a:bodyPr/>
          <a:lstStyle/>
          <a:p>
            <a:r>
              <a:rPr lang="pt-BR" dirty="0" smtClean="0"/>
              <a:t>Exemplos:</a:t>
            </a:r>
          </a:p>
          <a:p>
            <a:pPr lvl="1"/>
            <a:r>
              <a:rPr lang="pt-BR" dirty="0" smtClean="0"/>
              <a:t>Forno com termômetro e realimentação</a:t>
            </a:r>
          </a:p>
          <a:p>
            <a:pPr lvl="1"/>
            <a:r>
              <a:rPr lang="pt-BR" dirty="0" smtClean="0"/>
              <a:t>Automóvel com velocímetro e o motorista controlando a velocidade</a:t>
            </a:r>
          </a:p>
          <a:p>
            <a:pPr lvl="1"/>
            <a:r>
              <a:rPr lang="pt-BR" dirty="0" smtClean="0"/>
              <a:t>Sistema de posicionamento em máquinas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000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 em Malha Fechada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3501008"/>
            <a:ext cx="8229600" cy="1008112"/>
          </a:xfrm>
        </p:spPr>
        <p:txBody>
          <a:bodyPr/>
          <a:lstStyle/>
          <a:p>
            <a:pPr marL="457200" lvl="1" indent="0" algn="ctr">
              <a:buNone/>
            </a:pPr>
            <a:r>
              <a:rPr lang="pt-BR" dirty="0" smtClean="0"/>
              <a:t>Exemplo de sistema de posicionamento com realimentação</a:t>
            </a:r>
            <a:endParaRPr lang="pt-BR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770965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839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Controle em Malha Aberta 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00807"/>
          </a:xfrm>
        </p:spPr>
        <p:txBody>
          <a:bodyPr>
            <a:normAutofit fontScale="77500" lnSpcReduction="20000"/>
          </a:bodyPr>
          <a:lstStyle/>
          <a:p>
            <a:r>
              <a:rPr lang="pt-BR" dirty="0" smtClean="0"/>
              <a:t>Opera sem a malha de realimentação</a:t>
            </a:r>
          </a:p>
          <a:p>
            <a:pPr lvl="1"/>
            <a:r>
              <a:rPr lang="pt-BR" dirty="0" smtClean="0"/>
              <a:t>Não há medição da variável de saída</a:t>
            </a:r>
          </a:p>
          <a:p>
            <a:pPr lvl="1"/>
            <a:r>
              <a:rPr lang="pt-BR" dirty="0" smtClean="0"/>
              <a:t>Não a comparação com o parâmetro  de entrada</a:t>
            </a:r>
          </a:p>
          <a:p>
            <a:pPr lvl="1"/>
            <a:r>
              <a:rPr lang="pt-BR" dirty="0" smtClean="0"/>
              <a:t>O controlador confia no modelo do atuador sobre o sistema</a:t>
            </a:r>
          </a:p>
          <a:p>
            <a:pPr lvl="1"/>
            <a:r>
              <a:rPr lang="pt-BR" dirty="0" smtClean="0"/>
              <a:t>Existe o risco de não ocorrer o efeito desejado</a:t>
            </a:r>
            <a:endParaRPr lang="pt-BR" dirty="0"/>
          </a:p>
        </p:txBody>
      </p:sp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05064"/>
            <a:ext cx="7432098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78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Controle em Malha Aberta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</a:p>
          <a:p>
            <a:pPr lvl="1"/>
            <a:r>
              <a:rPr lang="pt-BR" dirty="0" smtClean="0"/>
              <a:t>O forno sem termômetro/termostato operado por tempo</a:t>
            </a:r>
          </a:p>
          <a:p>
            <a:pPr lvl="1"/>
            <a:r>
              <a:rPr lang="pt-BR" dirty="0" smtClean="0"/>
              <a:t>Um automóvel sem velocímetro onde o motorista tem que avaliar se está ou não a 60Km/h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129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Controle em Malha Aberta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700808"/>
            <a:ext cx="72485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115616" y="3717032"/>
            <a:ext cx="669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/>
            <a:r>
              <a:rPr lang="pt-BR" dirty="0" smtClean="0"/>
              <a:t>Exemplo do sistema de posicionamento anterior onde foi retirada a realimentação.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8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Quando Usar Malha Fechada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 smtClean="0"/>
              <a:t>Quando necessita aumentar </a:t>
            </a:r>
            <a:r>
              <a:rPr lang="pt-BR" dirty="0"/>
              <a:t>a precisão do </a:t>
            </a:r>
            <a:r>
              <a:rPr lang="pt-BR" dirty="0" smtClean="0"/>
              <a:t>sistema</a:t>
            </a:r>
            <a:endParaRPr lang="pt-BR" dirty="0"/>
          </a:p>
          <a:p>
            <a:pPr lvl="0"/>
            <a:r>
              <a:rPr lang="pt-BR" dirty="0" smtClean="0"/>
              <a:t>Rejeitar </a:t>
            </a:r>
            <a:r>
              <a:rPr lang="pt-BR" dirty="0"/>
              <a:t>o efeito de perturbações </a:t>
            </a:r>
            <a:r>
              <a:rPr lang="pt-BR" dirty="0" smtClean="0"/>
              <a:t>externas</a:t>
            </a:r>
            <a:endParaRPr lang="pt-BR" dirty="0"/>
          </a:p>
          <a:p>
            <a:pPr lvl="0"/>
            <a:r>
              <a:rPr lang="pt-BR" dirty="0" smtClean="0"/>
              <a:t>Melhorar </a:t>
            </a:r>
            <a:r>
              <a:rPr lang="pt-BR" dirty="0"/>
              <a:t>a dinâmica do sistema e, eventualmente, estabilizar um sistema naturalmente instável em malha </a:t>
            </a:r>
            <a:r>
              <a:rPr lang="pt-BR" dirty="0" smtClean="0"/>
              <a:t>aberta</a:t>
            </a:r>
            <a:endParaRPr lang="pt-BR" dirty="0"/>
          </a:p>
          <a:p>
            <a:pPr lvl="0"/>
            <a:r>
              <a:rPr lang="pt-BR" dirty="0" smtClean="0"/>
              <a:t>Diminuir </a:t>
            </a:r>
            <a:r>
              <a:rPr lang="pt-BR" dirty="0"/>
              <a:t>a sensibilidade do sistema a variações dos parâmetros do </a:t>
            </a:r>
            <a:r>
              <a:rPr lang="pt-BR" dirty="0" smtClean="0"/>
              <a:t>processo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7019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Quando usar Malha Aberta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altLang="pt-BR" dirty="0" smtClean="0"/>
              <a:t> As </a:t>
            </a:r>
            <a:r>
              <a:rPr lang="en-US" altLang="pt-BR" dirty="0" err="1" smtClean="0"/>
              <a:t>ações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executadas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pelo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sistema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controle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são</a:t>
            </a:r>
            <a:r>
              <a:rPr lang="en-US" altLang="pt-BR" dirty="0" smtClean="0"/>
              <a:t> simples</a:t>
            </a:r>
          </a:p>
          <a:p>
            <a:pPr marL="0" indent="0">
              <a:lnSpc>
                <a:spcPct val="80000"/>
              </a:lnSpc>
            </a:pPr>
            <a:r>
              <a:rPr lang="en-US" altLang="pt-BR" dirty="0" smtClean="0"/>
              <a:t> A </a:t>
            </a:r>
            <a:r>
              <a:rPr lang="en-US" altLang="pt-BR" dirty="0" err="1" smtClean="0"/>
              <a:t>função</a:t>
            </a:r>
            <a:r>
              <a:rPr lang="en-US" altLang="pt-BR" dirty="0" smtClean="0"/>
              <a:t> do </a:t>
            </a:r>
            <a:r>
              <a:rPr lang="en-US" altLang="pt-BR" dirty="0" err="1" smtClean="0"/>
              <a:t>atuador</a:t>
            </a:r>
            <a:r>
              <a:rPr lang="en-US" altLang="pt-BR" dirty="0" smtClean="0"/>
              <a:t> é </a:t>
            </a:r>
            <a:r>
              <a:rPr lang="en-US" altLang="pt-BR" dirty="0" err="1" smtClean="0"/>
              <a:t>bastante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confiável</a:t>
            </a:r>
            <a:r>
              <a:rPr lang="en-US" altLang="pt-BR" dirty="0" smtClean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US" altLang="pt-BR" dirty="0" smtClean="0"/>
              <a:t> </a:t>
            </a:r>
            <a:r>
              <a:rPr lang="en-US" altLang="pt-BR" dirty="0" err="1" smtClean="0"/>
              <a:t>Quaisquer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forças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reação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opostas</a:t>
            </a:r>
            <a:r>
              <a:rPr lang="en-US" altLang="pt-BR" dirty="0" smtClean="0"/>
              <a:t> as do </a:t>
            </a:r>
            <a:r>
              <a:rPr lang="en-US" altLang="pt-BR" dirty="0" err="1" smtClean="0"/>
              <a:t>atuador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são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pequenas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demais</a:t>
            </a:r>
            <a:r>
              <a:rPr lang="en-US" altLang="pt-BR" dirty="0" smtClean="0"/>
              <a:t> para </a:t>
            </a:r>
            <a:r>
              <a:rPr lang="en-US" altLang="pt-BR" dirty="0" err="1" smtClean="0"/>
              <a:t>causar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algum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efeito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sobre</a:t>
            </a:r>
            <a:r>
              <a:rPr lang="en-US" altLang="pt-BR" dirty="0" smtClean="0"/>
              <a:t> a </a:t>
            </a:r>
            <a:r>
              <a:rPr lang="en-US" altLang="pt-BR" dirty="0" err="1" smtClean="0"/>
              <a:t>atuação</a:t>
            </a:r>
            <a:r>
              <a:rPr lang="en-US" altLang="pt-BR" dirty="0" smtClean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US" altLang="pt-BR" dirty="0" smtClean="0"/>
              <a:t> Se </a:t>
            </a:r>
            <a:r>
              <a:rPr lang="en-US" altLang="pt-BR" dirty="0" err="1" smtClean="0"/>
              <a:t>essas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condições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não</a:t>
            </a:r>
            <a:r>
              <a:rPr lang="en-US" altLang="pt-BR" dirty="0" smtClean="0"/>
              <a:t> se </a:t>
            </a:r>
            <a:r>
              <a:rPr lang="en-US" altLang="pt-BR" dirty="0" err="1" smtClean="0"/>
              <a:t>aplicam</a:t>
            </a:r>
            <a:r>
              <a:rPr lang="en-US" altLang="pt-BR" dirty="0" smtClean="0"/>
              <a:t>, </a:t>
            </a:r>
            <a:r>
              <a:rPr lang="en-US" altLang="pt-BR" dirty="0" err="1" smtClean="0"/>
              <a:t>então</a:t>
            </a:r>
            <a:r>
              <a:rPr lang="en-US" altLang="pt-BR" dirty="0" smtClean="0"/>
              <a:t> um </a:t>
            </a:r>
            <a:r>
              <a:rPr lang="en-US" altLang="pt-BR" dirty="0" err="1" smtClean="0"/>
              <a:t>sistema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controle</a:t>
            </a:r>
            <a:r>
              <a:rPr lang="en-US" altLang="pt-BR" dirty="0" smtClean="0"/>
              <a:t> de </a:t>
            </a:r>
            <a:r>
              <a:rPr lang="en-US" altLang="pt-BR" dirty="0" err="1" smtClean="0"/>
              <a:t>malha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fechada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deve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ser</a:t>
            </a:r>
            <a:r>
              <a:rPr lang="en-US" altLang="pt-BR" dirty="0" smtClean="0"/>
              <a:t> </a:t>
            </a:r>
            <a:r>
              <a:rPr lang="en-US" altLang="pt-BR" dirty="0" err="1" smtClean="0"/>
              <a:t>utilizado</a:t>
            </a:r>
            <a:r>
              <a:rPr lang="en-US" altLang="pt-BR" dirty="0" smtClean="0"/>
              <a:t>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9490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GROOVER, </a:t>
            </a:r>
            <a:r>
              <a:rPr lang="pt-BR" dirty="0" err="1"/>
              <a:t>Mikell</a:t>
            </a:r>
            <a:r>
              <a:rPr lang="pt-BR" dirty="0"/>
              <a:t> P. Automação Industrial e Sistemas de Manufatura.  </a:t>
            </a:r>
            <a:r>
              <a:rPr lang="en-US" dirty="0"/>
              <a:t>São Paulo:  Pearson Prentice Hall.  3 ed., 2011</a:t>
            </a:r>
            <a:endParaRPr lang="pt-BR" dirty="0"/>
          </a:p>
          <a:p>
            <a:r>
              <a:rPr lang="pt-BR" dirty="0" smtClean="0"/>
              <a:t>BAZANELLA, </a:t>
            </a:r>
            <a:r>
              <a:rPr lang="pt-BR" dirty="0"/>
              <a:t>A. </a:t>
            </a:r>
            <a:r>
              <a:rPr lang="pt-BR" dirty="0" err="1"/>
              <a:t>Sanfelice</a:t>
            </a:r>
            <a:r>
              <a:rPr lang="pt-BR"/>
              <a:t>;  </a:t>
            </a:r>
            <a:r>
              <a:rPr lang="pt-BR" smtClean="0"/>
              <a:t>SILVA </a:t>
            </a:r>
            <a:r>
              <a:rPr lang="pt-BR" dirty="0"/>
              <a:t>Jr., J. M. Gomes da. Ajuste de Controladores PID.  Apostila de Curso de Extensão. Departamento de Eng. Elétrica – UFRGS, 2000</a:t>
            </a:r>
          </a:p>
        </p:txBody>
      </p:sp>
    </p:spTree>
    <p:extLst>
      <p:ext uri="{BB962C8B-B14F-4D97-AF65-F5344CB8AC3E}">
        <p14:creationId xmlns:p14="http://schemas.microsoft.com/office/powerpoint/2010/main" val="3592521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401</Words>
  <Application>Microsoft Office PowerPoint</Application>
  <PresentationFormat>Apresentação na tela (4:3)</PresentationFormat>
  <Paragraphs>52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Controle em Malha Aberta e em Malha Fechada</vt:lpstr>
      <vt:lpstr>Controle em Malha Fechada  </vt:lpstr>
      <vt:lpstr>Controle em Malha Fechada</vt:lpstr>
      <vt:lpstr>Sistema em Malha Fechada</vt:lpstr>
      <vt:lpstr>Sistema em Malha Fechada</vt:lpstr>
      <vt:lpstr>Sistema em Malha Fechada</vt:lpstr>
      <vt:lpstr>Sistema em Malha Fechada</vt:lpstr>
      <vt:lpstr>Controle em Malha Aberta  </vt:lpstr>
      <vt:lpstr>Controle em Malha Aberta  </vt:lpstr>
      <vt:lpstr>Controle em Malha Aberta  </vt:lpstr>
      <vt:lpstr>Quando Usar Malha Fechada</vt:lpstr>
      <vt:lpstr>Quando usar Malha Aberta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em Malha Aberta e em Malha Fechada</dc:title>
  <dc:creator>R</dc:creator>
  <cp:lastModifiedBy>dcc2rsurj</cp:lastModifiedBy>
  <cp:revision>10</cp:revision>
  <dcterms:created xsi:type="dcterms:W3CDTF">2015-06-30T15:14:24Z</dcterms:created>
  <dcterms:modified xsi:type="dcterms:W3CDTF">2017-11-14T17:25:14Z</dcterms:modified>
</cp:coreProperties>
</file>