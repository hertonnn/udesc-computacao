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Cinzel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Cinzel-bold.fntdata"/><Relationship Id="rId10" Type="http://schemas.openxmlformats.org/officeDocument/2006/relationships/slide" Target="slides/slide5.xml"/><Relationship Id="rId21" Type="http://schemas.openxmlformats.org/officeDocument/2006/relationships/font" Target="fonts/Cinzel-regular.fntdata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19e84434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19e84434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19e84434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19e84434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9e84434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9e8443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a a data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ezar este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ezar este slide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859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904875" y="1455241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O Ferrão (Nail):</a:t>
            </a:r>
            <a:r>
              <a:rPr b="0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 Arma corpo-a-corpo primária. Permite realizar o "pogo", atacando para baixo para saltar sobre inimigos e espinhos de forma fluida.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904875" y="3034010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Sistema de Alma (Soul):</a:t>
            </a:r>
            <a:r>
              <a:rPr b="0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 Bater nos inimigos gera 'Soul'. Essa energia deve ser gerenciada sabiamente: usar para se curar (Foco) ou lançar magias de dano? Risco x Recompensa.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904875" y="4612778"/>
            <a:ext cx="49530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Amuletos (Charms):</a:t>
            </a:r>
            <a:r>
              <a:rPr b="0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 O sistema de progressão de habilidades. Jogadores equipam amuletos usando espaços limitados para criar "Builds" focadas em dano, magias, defesa ou exploração.</a:t>
            </a:r>
            <a:endParaRPr/>
          </a:p>
        </p:txBody>
      </p:sp>
      <p:pic>
        <p:nvPicPr>
          <p:cNvPr descr="image.png" id="104" name="Google Shape;1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955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571500" y="1455241"/>
            <a:ext cx="1809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C0D0"/>
                </a:solidFill>
                <a:latin typeface="Montserrat"/>
                <a:ea typeface="Montserrat"/>
                <a:cs typeface="Montserrat"/>
                <a:sym typeface="Montserrat"/>
              </a:rPr>
              <a:t>✦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571500" y="3034010"/>
            <a:ext cx="1809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C0D0"/>
                </a:solidFill>
                <a:latin typeface="Montserrat"/>
                <a:ea typeface="Montserrat"/>
                <a:cs typeface="Montserrat"/>
                <a:sym typeface="Montserrat"/>
              </a:rPr>
              <a:t>✦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571500" y="4612778"/>
            <a:ext cx="1809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C0D0"/>
                </a:solidFill>
                <a:latin typeface="Montserrat"/>
                <a:ea typeface="Montserrat"/>
                <a:cs typeface="Montserrat"/>
                <a:sym typeface="Montserrat"/>
              </a:rPr>
              <a:t>✦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571500" y="331291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88C0D0"/>
                </a:solidFill>
                <a:latin typeface="Cinzel"/>
                <a:ea typeface="Cinzel"/>
                <a:cs typeface="Cinzel"/>
                <a:sym typeface="Cinzel"/>
              </a:rPr>
              <a:t>Mecânica Principal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571500" y="1055191"/>
            <a:ext cx="11049000" cy="19050"/>
          </a:xfrm>
          <a:prstGeom prst="rect">
            <a:avLst/>
          </a:prstGeom>
          <a:solidFill>
            <a:srgbClr val="88C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6334125" y="1483816"/>
            <a:ext cx="55506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EFF4"/>
                </a:solidFill>
                <a:latin typeface="Cinzel"/>
                <a:ea typeface="Cinzel"/>
                <a:cs typeface="Cinzel"/>
                <a:sym typeface="Cinzel"/>
              </a:rPr>
              <a:t>Repercussão Gigante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6334125" y="1979116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Produzido com um orçamento minúsculo por meio de um modesto financiamento coletivo no Kickstarter (menos de $60.000 dólares arrecadados inicialmente).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6334125" y="3462635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Superou todas as expectativas de faturamento, tornando-se não apenas um dos jogos "indies" mais rentáveis, mas um pilar da cultura de jogos moderna.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6334125" y="4946153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Estabeleceu uma base de fãs gigantesca e ativa, que até hoje aguarda ansiosamente o seu seguimento, </a:t>
            </a:r>
            <a:r>
              <a:rPr b="0" i="1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Hollow Knight: Silksong</a:t>
            </a:r>
            <a:r>
              <a:rPr b="0" i="0" lang="en-US" sz="16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6334125" y="6142136"/>
            <a:ext cx="5286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566A"/>
                </a:solidFill>
                <a:latin typeface="Montserrat"/>
                <a:ea typeface="Montserrat"/>
                <a:cs typeface="Montserrat"/>
                <a:sym typeface="Montserrat"/>
              </a:rPr>
              <a:t>*Vendas reais atuais são estimadas muito além deste marco oficial de 2019.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2190750" y="2381250"/>
            <a:ext cx="20478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88C0D0"/>
                </a:solidFill>
                <a:latin typeface="Cinzel"/>
                <a:ea typeface="Cinzel"/>
                <a:cs typeface="Cinzel"/>
                <a:sym typeface="Cinzel"/>
              </a:rPr>
              <a:t>+3M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1514475" y="3524250"/>
            <a:ext cx="3400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EF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Cópias Vendidas (Base 2019)*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423987" y="4181475"/>
            <a:ext cx="3581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88C0D0"/>
                </a:solidFill>
                <a:latin typeface="Cinzel"/>
                <a:ea typeface="Cinzel"/>
                <a:cs typeface="Cinzel"/>
                <a:sym typeface="Cinzel"/>
              </a:rPr>
              <a:t>90/100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1262062" y="5324475"/>
            <a:ext cx="390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EF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Aclamação da Crítica (Metacritic)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571500" y="359866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88C0D0"/>
                </a:solidFill>
                <a:latin typeface="Cinzel"/>
                <a:ea typeface="Cinzel"/>
                <a:cs typeface="Cinzel"/>
                <a:sym typeface="Cinzel"/>
              </a:rPr>
              <a:t>Um Sucesso Absoluto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71500" y="1083766"/>
            <a:ext cx="11049000" cy="19050"/>
          </a:xfrm>
          <a:prstGeom prst="rect">
            <a:avLst/>
          </a:prstGeom>
          <a:solidFill>
            <a:srgbClr val="88C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571500" y="1609725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88C0D0"/>
                </a:solidFill>
                <a:latin typeface="Cinzel"/>
                <a:ea typeface="Cinzel"/>
                <a:cs typeface="Cinzel"/>
                <a:sym typeface="Cinzel"/>
              </a:rPr>
              <a:t>Referências Bibliográficas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571500" y="2400300"/>
            <a:ext cx="11049000" cy="19050"/>
          </a:xfrm>
          <a:prstGeom prst="rect">
            <a:avLst/>
          </a:prstGeom>
          <a:solidFill>
            <a:srgbClr val="88C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762000" y="2857500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TEAM CHERRY.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1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Hollow Knight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. South Australia: Team Cherry, 2017. Jogo eletrônico.</a:t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571500" y="2857500"/>
            <a:ext cx="28575" cy="257175"/>
          </a:xfrm>
          <a:prstGeom prst="rect">
            <a:avLst/>
          </a:prstGeom>
          <a:solidFill>
            <a:srgbClr val="4C56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762000" y="3305175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METACRITIC.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1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Hollow Knight for PC Reviews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. Disponível na base de dados do Metacritic.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71500" y="3305175"/>
            <a:ext cx="28575" cy="257175"/>
          </a:xfrm>
          <a:prstGeom prst="rect">
            <a:avLst/>
          </a:prstGeom>
          <a:solidFill>
            <a:srgbClr val="4C56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762000" y="3752850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HOLLOW KNIGHT WIKI.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1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Fandom: Mechanics, Enemies, and Lore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. Disponível na documentação da comunidade.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71500" y="3752850"/>
            <a:ext cx="28575" cy="257175"/>
          </a:xfrm>
          <a:prstGeom prst="rect">
            <a:avLst/>
          </a:prstGeom>
          <a:solidFill>
            <a:srgbClr val="4C56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762000" y="4200525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KICKSTARTER.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1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Hollow Knight by Team Cherry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. Dados oficiais do financiamento e metas de campanha.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71500" y="4200525"/>
            <a:ext cx="28575" cy="257175"/>
          </a:xfrm>
          <a:prstGeom prst="rect">
            <a:avLst/>
          </a:prstGeom>
          <a:solidFill>
            <a:srgbClr val="4C56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762000" y="4648200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PC GAMER.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1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How Hollow Knight became a modern classic</a:t>
            </a:r>
            <a:r>
              <a:rPr b="0" i="0" lang="en-US" sz="135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. Análise editorial de design de jogos.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71500" y="4648200"/>
            <a:ext cx="28575" cy="257175"/>
          </a:xfrm>
          <a:prstGeom prst="rect">
            <a:avLst/>
          </a:prstGeom>
          <a:solidFill>
            <a:srgbClr val="4C56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571500" y="3210966"/>
            <a:ext cx="67722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71500" y="3986212"/>
            <a:ext cx="6772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571500" y="3986212"/>
            <a:ext cx="6772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03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1666875" y="3353841"/>
            <a:ext cx="56769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https://cdn.80.lv/api/upload/post/1110/images/5d28981b3d827/widen_1220x0.jpg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1666875" y="3599557"/>
            <a:ext cx="5676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80.lv</a:t>
            </a:r>
            <a:endParaRPr/>
          </a:p>
        </p:txBody>
      </p:sp>
      <p:pic>
        <p:nvPicPr>
          <p:cNvPr descr="image.png"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451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1666875" y="4138612"/>
            <a:ext cx="56769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https://interfaceingame.com/wp-content/uploads/hollow-knight/hollow-knight-charms.jpg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1666875" y="4384327"/>
            <a:ext cx="5676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DEE9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interfaceingame.com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88C0D0"/>
                </a:solidFill>
                <a:latin typeface="Cinzel"/>
                <a:ea typeface="Cinzel"/>
                <a:cs typeface="Cinzel"/>
                <a:sym typeface="Cinzel"/>
              </a:rPr>
              <a:t>Image Sources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88C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