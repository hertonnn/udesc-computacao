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DM Sans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1D8E0F-754B-41C8-A0C4-0D706240A3DF}">
  <a:tblStyle styleId="{C71D8E0F-754B-41C8-A0C4-0D706240A3D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22" Type="http://schemas.openxmlformats.org/officeDocument/2006/relationships/font" Target="fonts/DMSans-italic.fntdata"/><Relationship Id="rId21" Type="http://schemas.openxmlformats.org/officeDocument/2006/relationships/font" Target="fonts/DMSans-bold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DM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7" Type="http://schemas.openxmlformats.org/officeDocument/2006/relationships/font" Target="fonts/Merriweath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3703290"/>
            <a:ext cx="110490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Metodologia Principal: MDA (Hunicke et al., 2004)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571500"/>
            <a:ext cx="11601450" cy="192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Classic Game Design Methodologies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280035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Frameworks MDA e Elemental Tetrad na Concepção de Jogos Digitais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24037"/>
            <a:ext cx="5334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72867"/>
            <a:ext cx="5334000" cy="1577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2700" y="1900237"/>
            <a:ext cx="5181600" cy="41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571500"/>
            <a:ext cx="5070633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Introdução e Objetivo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1238250"/>
            <a:ext cx="4829175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2193726"/>
            <a:ext cx="5334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Contexto: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A ausência de um consenso absoluto na literatura sobre uma metodologia única para o desenvolvimento de jogos.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3283297"/>
            <a:ext cx="5334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Foco: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Compreender o processo de "chegada ao produto final" através de princípios, processos e métodos formais.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4868167"/>
            <a:ext cx="4667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Como transformar um pedido de um cliente em um sistema lúdico funcional?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445293" y="714375"/>
            <a:ext cx="11301412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Metodologia Principal: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25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 MDA Framework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714375" y="2600325"/>
            <a:ext cx="107632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(HUNICKE; LEBLANC; ZUBEK, 2004)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24037"/>
            <a:ext cx="5334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" y="1900237"/>
            <a:ext cx="5181600" cy="41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71500" y="571500"/>
            <a:ext cx="584073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Diferenciais e Vantagens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571500" y="1238250"/>
            <a:ext cx="55626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6591300" y="2792849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667500" y="2793801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Vocabulário Comum: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Unifica a linguagem entre designers, desenvolvedores e pesquisadores.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591300" y="3379529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667500" y="3380482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Abordagem Formal: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Decompõe o jogo em componentes lógicos e emocionais.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591300" y="3966210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667500" y="3967162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Iteração Facilitada: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Permite diagnosticar falhas no "fun" ajustando regras específicas.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591300" y="4552890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667500" y="4553842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Dualidade de Perspectiva: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Considera tanto a visão do criador quanto a do jogador.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47825"/>
            <a:ext cx="11049000" cy="12839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12765"/>
            <a:ext cx="3492400" cy="2213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650" y="3312765"/>
            <a:ext cx="3492549" cy="2213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3312765"/>
            <a:ext cx="3492400" cy="221352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71500" y="571500"/>
            <a:ext cx="4090511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O Modelo e Fluxo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571500" y="1238250"/>
            <a:ext cx="3895725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571500" y="5812035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Fluxo Designer: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M → D → A | </a:t>
            </a:r>
            <a:r>
              <a:rPr b="1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Fluxo Jogador: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A → D → M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52500" y="2143125"/>
            <a:ext cx="103822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O MDA propõe que um jogo é um sistema que processa inputs do jogador em outputs emocionais.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784227" y="3598515"/>
            <a:ext cx="306694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Mechanics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57250" y="4150965"/>
            <a:ext cx="29209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As regras, algoritmos e estruturas de dados básicas.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4562374" y="3598515"/>
            <a:ext cx="306710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Dynamics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4635400" y="4150965"/>
            <a:ext cx="292104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O comportamento do sistema durante o tempo de execução.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340677" y="3598515"/>
            <a:ext cx="306694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Aesthetics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413700" y="4150965"/>
            <a:ext cx="29209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As respostas emocionais evocadas no jogador.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571500" y="571500"/>
            <a:ext cx="508063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Detalhamento: M &amp; D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571500" y="1238250"/>
            <a:ext cx="48387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310321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Mechanics (Mecânicas)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3531840"/>
            <a:ext cx="5334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São os "verbos" e os componentes. Ex: pular, atirar, inventário, pontos de vida, fórmulas de dano.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4328070"/>
            <a:ext cx="5334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Passo: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Definir as restrições e ações possíveis.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286500" y="280987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Dynamics (Dinâmicas)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286500" y="3238500"/>
            <a:ext cx="5334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Surgem quando as mecânicas interagem entre si e com o jogador. Ex: "camping" em shooters, estratégias de economia.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286500" y="4328070"/>
            <a:ext cx="5334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Passo: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Simular comportamentos sistêmicos sob pressão.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571500" y="571500"/>
            <a:ext cx="6890861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Detalhamento: Aesthetics (A)</a:t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571500" y="1238250"/>
            <a:ext cx="6562725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571500" y="3138487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Hunicke et al. (2004) definem 8 tipos de "diversão" (Taxonomia de Estéticas):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876300" y="3830925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952500" y="3831877"/>
            <a:ext cx="50482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Sensação: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Prazer sensorial (visu/som).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876300" y="4124265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952500" y="4125217"/>
            <a:ext cx="50482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Fantasia: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Faz-de-conta.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876300" y="4417605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952500" y="4418558"/>
            <a:ext cx="50482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Narrativa: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Drama/História.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876300" y="4710945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952500" y="4711898"/>
            <a:ext cx="50482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Desafio: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Obstáculos/Habilidade.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496050" y="3830925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572250" y="3831877"/>
            <a:ext cx="50482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Comunhão: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Estrutura social.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496050" y="4124265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572250" y="4125217"/>
            <a:ext cx="50482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Descoberta: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Território inexplorado.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496050" y="4417605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572250" y="4418558"/>
            <a:ext cx="50482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Expressão: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Auto-descoberta.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496050" y="4710945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572250" y="4711898"/>
            <a:ext cx="50482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Submissão: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Passatempo.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48991"/>
            <a:ext cx="11049000" cy="263634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571500" y="571500"/>
            <a:ext cx="6470808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Limitações e Desvantagens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571500" y="1238250"/>
            <a:ext cx="6162675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1257300" y="3086189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1333500" y="3087141"/>
            <a:ext cx="100012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Linearidade Excessiva: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Ignora que o processo pode não ser puramente linear (DORMANS, 2012).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1257300" y="3379529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1333500" y="3380482"/>
            <a:ext cx="100012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Ausência de Tecnologia/Arte: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MDA foca muito em regras e emoção, mas pouco no meio tecnológico.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1257300" y="3672869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1333500" y="3673822"/>
            <a:ext cx="10001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Feedback Manual: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Dificuldade em aplicar em jogos onde o feedback não é automático (DUARTE, 2015).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1257300" y="4259550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1333500" y="4260502"/>
            <a:ext cx="10001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Indeterminismo: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Dinâmicas podem ser imprevisíveis, tornando difícil o controle total do designer sobre a estética.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24037"/>
            <a:ext cx="5334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2700" y="1900237"/>
            <a:ext cx="5181600" cy="41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571500" y="571500"/>
            <a:ext cx="7910988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Elemental Tetrad (SCHELL, 2008)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571500" y="1238250"/>
            <a:ext cx="7534275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2864197"/>
            <a:ext cx="5334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Visão Holística: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 Schell propõe que um jogo é composto por quatro elementos interdependentes e de igual importância: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876300" y="3952815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952500" y="3953767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Mecânicas (Regras/Objetivos)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876300" y="4246155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952500" y="4247108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Estética (Visual/Som)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876300" y="4539495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952500" y="4540448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História (Narrativa)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876300" y="4832836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952500" y="4833788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Tecnologia (Hardware/Software)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/>
          <p:nvPr/>
        </p:nvSpPr>
        <p:spPr>
          <a:xfrm>
            <a:off x="571500" y="2352675"/>
            <a:ext cx="11049000" cy="32289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3" name="Google Shape;223;p22"/>
          <p:cNvGraphicFramePr/>
          <p:nvPr/>
        </p:nvGraphicFramePr>
        <p:xfrm>
          <a:off x="571500" y="23526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{C71D8E0F-754B-41C8-A0C4-0D706240A3DF}</a:tableStyleId>
              </a:tblPr>
              <a:tblGrid>
                <a:gridCol w="2947400"/>
                <a:gridCol w="4281200"/>
                <a:gridCol w="3820425"/>
              </a:tblGrid>
              <a:tr h="64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Critério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MDA (Hunicke)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ET (Schell)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64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336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Abordagem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336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Sistêmica e Estruturada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336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Holística e Integrada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336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Componentes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336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 (M, D, 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336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 (M, A, H, 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64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336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Estética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336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Psicológica (emoção)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336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Sensorial (aparência)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336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Tecnologia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336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Subentendida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336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Pilar fundamental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224" name="Google Shape;224;p22"/>
          <p:cNvSpPr/>
          <p:nvPr/>
        </p:nvSpPr>
        <p:spPr>
          <a:xfrm>
            <a:off x="571500" y="3652837"/>
            <a:ext cx="2947392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3518892" y="3652837"/>
            <a:ext cx="4281189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7800082" y="3652837"/>
            <a:ext cx="3820417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571500" y="4291012"/>
            <a:ext cx="2947392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3518892" y="4291012"/>
            <a:ext cx="4281189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7800082" y="4291012"/>
            <a:ext cx="3820417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571500" y="4929187"/>
            <a:ext cx="2947392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3518892" y="4929187"/>
            <a:ext cx="4281189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7800082" y="4929187"/>
            <a:ext cx="3820417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571500" y="5567362"/>
            <a:ext cx="2947392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3518892" y="5567362"/>
            <a:ext cx="4281189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7800082" y="5567362"/>
            <a:ext cx="3820417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571500" y="571500"/>
            <a:ext cx="766095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Comparação entre Metodologias</a:t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571500" y="1238250"/>
            <a:ext cx="729615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 txBox="1"/>
          <p:nvPr/>
        </p:nvSpPr>
        <p:spPr>
          <a:xfrm>
            <a:off x="571500" y="571500"/>
            <a:ext cx="620077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Referências Bibliográficas</a:t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571500" y="1238250"/>
            <a:ext cx="59055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 txBox="1"/>
          <p:nvPr/>
        </p:nvSpPr>
        <p:spPr>
          <a:xfrm>
            <a:off x="571500" y="2102197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DUARTE, Luiz Claudio Silveira. </a:t>
            </a:r>
            <a:r>
              <a:rPr b="1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Revisiting the MDA framework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. Gamasutra, 2015.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571500" y="2814637"/>
            <a:ext cx="11049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HUNICKE, R.; LEBLANC, M.; ZUBEK, R. </a:t>
            </a:r>
            <a:r>
              <a:rPr b="1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MDA: A Formal Approach to Game Design and Game Research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. In: AAAI Workshop on Challenges in Game AI, 2004.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571500" y="3820417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SCHELL, Jesse. </a:t>
            </a:r>
            <a:r>
              <a:rPr b="1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The Art of Game Design: A Book of Lenses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. Burlington: Morgan Kaufmann Publishers, 2008.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571500" y="4532858"/>
            <a:ext cx="11049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DORMANS, J. </a:t>
            </a:r>
            <a:r>
              <a:rPr b="1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Engineering emergence: applied theory for game design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. Amsterdã: Universiteit van Amsterdam, 2012.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571500" y="5538638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WALK, W.; GÖRLICH, D.; BARRETT, M. </a:t>
            </a:r>
            <a:r>
              <a:rPr b="1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Design, Dynamics, Experience (DDE)</a:t>
            </a:r>
            <a:r>
              <a:rPr b="0" i="0" lang="en-US" sz="165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. In: Game Dynamics. Springer, 2017.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3750" y="2886075"/>
            <a:ext cx="55245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9950" y="2962275"/>
            <a:ext cx="5372100" cy="41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Dúvidas?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571500" y="1819275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Obrigado pela atenção!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06116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77641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14651"/>
            <a:ext cx="3171825" cy="586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951809"/>
            <a:ext cx="2143125" cy="58668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5"/>
          <p:cNvSpPr txBox="1"/>
          <p:nvPr/>
        </p:nvSpPr>
        <p:spPr>
          <a:xfrm>
            <a:off x="571500" y="571500"/>
            <a:ext cx="3470433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69" name="Google Shape;269;p25"/>
          <p:cNvSpPr/>
          <p:nvPr/>
        </p:nvSpPr>
        <p:spPr>
          <a:xfrm>
            <a:off x="571500" y="1238250"/>
            <a:ext cx="3305175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571500" y="2363241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571500" y="3134766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571500" y="3906291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571500" y="31252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571500" y="31252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571500" y="38967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571500" y="38967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571500" y="47994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571500" y="47994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 txBox="1"/>
          <p:nvPr/>
        </p:nvSpPr>
        <p:spPr>
          <a:xfrm>
            <a:off x="1666875" y="2527101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https://www.techneeds.com/wp-content/uploads/2025/07/who-are-some-of-the-team-members-involved-in-designing-and-developing-a-game.webp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1666875" y="2747962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www.techneeds.com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1666875" y="3298626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https://miro.medium.com/v2/resize:fit:1200/1*oeilGa3jEiNJkEJta5R7KA.png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1666875" y="3519487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medium.com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1666875" y="4049166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https://substackcdn.com/image/fetch/$s_!o7Fk!,f_auto,q_auto:good,fl_progressive:steep/https%3A%2F%2Fsubstack-post-media.s3.amazonaws.com%2Fpublic%2Fimages%2F914f1cde-4f08-4669-be88-182e2c7f2764_1280x720.jpeg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1666875" y="444326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www.skeletoncodemachine.com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1666875" y="497279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https://www.juegostudio.com/wp-content/uploads/2024/12/Theme-or-Mechanics.jpg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1666875" y="519365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www.juegostudio.com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